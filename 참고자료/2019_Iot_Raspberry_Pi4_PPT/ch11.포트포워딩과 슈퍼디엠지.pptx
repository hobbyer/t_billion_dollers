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27"/>
  </p:notesMasterIdLst>
  <p:sldIdLst>
    <p:sldId id="323" r:id="rId2"/>
    <p:sldId id="330" r:id="rId3"/>
    <p:sldId id="400" r:id="rId4"/>
    <p:sldId id="365" r:id="rId5"/>
    <p:sldId id="401" r:id="rId6"/>
    <p:sldId id="402" r:id="rId7"/>
    <p:sldId id="403" r:id="rId8"/>
    <p:sldId id="404" r:id="rId9"/>
    <p:sldId id="405" r:id="rId10"/>
    <p:sldId id="406" r:id="rId11"/>
    <p:sldId id="407" r:id="rId12"/>
    <p:sldId id="408" r:id="rId13"/>
    <p:sldId id="409" r:id="rId14"/>
    <p:sldId id="410" r:id="rId15"/>
    <p:sldId id="411" r:id="rId16"/>
    <p:sldId id="413" r:id="rId17"/>
    <p:sldId id="414" r:id="rId18"/>
    <p:sldId id="415" r:id="rId19"/>
    <p:sldId id="416" r:id="rId20"/>
    <p:sldId id="417" r:id="rId21"/>
    <p:sldId id="418" r:id="rId22"/>
    <p:sldId id="419" r:id="rId23"/>
    <p:sldId id="420" r:id="rId24"/>
    <p:sldId id="421" r:id="rId25"/>
    <p:sldId id="360" r:id="rId2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1" d="100"/>
          <a:sy n="91" d="100"/>
        </p:scale>
        <p:origin x="-3804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B8596-08BC-4835-A7A7-558BAD895013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3FAFC3-F822-460C-B3D9-971640FD25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484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253D3-C2F7-4B9C-A5A7-162FCA56A06B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sb-DE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253D3-C2F7-4B9C-A5A7-162FCA56A06B}" type="slidenum">
              <a:rPr lang="ko-KR" altLang="en-US" smtClean="0"/>
              <a:pPr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557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C75E15DC-7B9D-468A-8477-4B8C78798597}" type="datetimeFigureOut">
              <a:rPr lang="ko-KR" altLang="en-US" smtClean="0"/>
              <a:pPr/>
              <a:t>2020-01-17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-24"/>
            <a:ext cx="5614998" cy="7143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857232"/>
            <a:ext cx="8229600" cy="5429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F18862-52DD-4274-A1DB-F8F6ACFC2478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7" r:id="rId3"/>
  </p:sldLayoutIdLst>
  <p:txStyles>
    <p:titleStyle>
      <a:lvl1pPr algn="ctr" defTabSz="914400" rtl="0" eaLnBrk="1" latinLnBrk="1" hangingPunct="1">
        <a:spcBef>
          <a:spcPct val="0"/>
        </a:spcBef>
        <a:buNone/>
        <a:defRPr sz="2400" b="1" kern="1200">
          <a:solidFill>
            <a:schemeClr val="tx1"/>
          </a:solidFill>
          <a:latin typeface="나눔스퀘어라운드 ExtraBold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None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naver.com/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67544" y="1000108"/>
            <a:ext cx="81369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ch11 </a:t>
            </a:r>
            <a:r>
              <a:rPr lang="ko-KR" altLang="en-US" sz="4000" b="1" dirty="0" err="1" smtClean="0">
                <a:latin typeface="나눔스퀘어라운드 ExtraBold" pitchFamily="50" charset="-127"/>
                <a:ea typeface="나눔스퀘어라운드 ExtraBold" pitchFamily="50" charset="-127"/>
              </a:rPr>
              <a:t>포트포워딩과</a:t>
            </a:r>
            <a:r>
              <a:rPr lang="ko-KR" altLang="en-US" sz="40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 </a:t>
            </a:r>
            <a:r>
              <a:rPr lang="ko-KR" altLang="en-US" sz="4000" b="1" dirty="0" err="1" smtClean="0">
                <a:latin typeface="나눔스퀘어라운드 ExtraBold" pitchFamily="50" charset="-127"/>
                <a:ea typeface="나눔스퀘어라운드 ExtraBold" pitchFamily="50" charset="-127"/>
              </a:rPr>
              <a:t>슈퍼디엠지로</a:t>
            </a:r>
            <a:r>
              <a:rPr lang="ko-KR" altLang="en-US" sz="40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 </a:t>
            </a:r>
            <a:endParaRPr lang="en-US" altLang="ko-KR" sz="4000" b="1" dirty="0" smtClean="0">
              <a:latin typeface="나눔스퀘어라운드 ExtraBold" pitchFamily="50" charset="-127"/>
              <a:ea typeface="나눔스퀘어라운드 ExtraBold" pitchFamily="50" charset="-127"/>
            </a:endParaRPr>
          </a:p>
          <a:p>
            <a:pPr algn="ctr"/>
            <a:r>
              <a:rPr lang="ko-KR" altLang="en-US" sz="4000" b="1" dirty="0" err="1" smtClean="0">
                <a:latin typeface="나눔스퀘어라운드 ExtraBold" pitchFamily="50" charset="-127"/>
                <a:ea typeface="나눔스퀘어라운드 ExtraBold" pitchFamily="50" charset="-127"/>
              </a:rPr>
              <a:t>우리집</a:t>
            </a:r>
            <a:r>
              <a:rPr lang="ko-KR" altLang="en-US" sz="40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 </a:t>
            </a:r>
            <a:r>
              <a:rPr lang="en-US" altLang="ko-KR" sz="40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LED </a:t>
            </a:r>
            <a:r>
              <a:rPr lang="ko-KR" altLang="en-US" sz="4000" b="1" dirty="0" smtClean="0">
                <a:latin typeface="나눔스퀘어라운드 ExtraBold" pitchFamily="50" charset="-127"/>
                <a:ea typeface="나눔스퀘어라운드 ExtraBold" pitchFamily="50" charset="-127"/>
              </a:rPr>
              <a:t>제어하기</a:t>
            </a:r>
            <a:endParaRPr lang="ko-KR" altLang="en-US" sz="4000" b="1" dirty="0">
              <a:latin typeface="나눔스퀘어라운드 ExtraBold" pitchFamily="50" charset="-127"/>
              <a:ea typeface="나눔스퀘어라운드 ExtraBold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45663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83"/>
          <p:cNvGrpSpPr>
            <a:grpSpLocks/>
          </p:cNvGrpSpPr>
          <p:nvPr/>
        </p:nvGrpSpPr>
        <p:grpSpPr bwMode="auto">
          <a:xfrm>
            <a:off x="285720" y="857232"/>
            <a:ext cx="4724400" cy="685800"/>
            <a:chOff x="1296" y="1824"/>
            <a:chExt cx="2976" cy="432"/>
          </a:xfrm>
        </p:grpSpPr>
        <p:sp>
          <p:nvSpPr>
            <p:cNvPr id="90196" name="AutoShape 84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tx2"/>
            </a:soli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90197" name="AutoShape 85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tx2">
                <a:lumMod val="75000"/>
              </a:schemeClr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90198" name="Text Box 86"/>
            <p:cNvSpPr txBox="1">
              <a:spLocks noChangeArrowheads="1"/>
            </p:cNvSpPr>
            <p:nvPr/>
          </p:nvSpPr>
          <p:spPr bwMode="gray">
            <a:xfrm>
              <a:off x="1680" y="1934"/>
              <a:ext cx="2160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>
              <a:spAutoFit/>
            </a:bodyPr>
            <a:lstStyle/>
            <a:p>
              <a:pPr algn="ctr" eaLnBrk="0" hangingPunct="0"/>
              <a:r>
                <a:rPr lang="ko-KR" altLang="en-US" b="1" dirty="0" smtClean="0">
                  <a:solidFill>
                    <a:schemeClr val="bg1"/>
                  </a:solidFill>
                  <a:ea typeface="굴림" charset="-127"/>
                </a:rPr>
                <a:t>학습목표</a:t>
              </a:r>
              <a:endParaRPr lang="en-US" altLang="ko-KR" b="1" dirty="0">
                <a:solidFill>
                  <a:schemeClr val="bg1"/>
                </a:solidFill>
                <a:ea typeface="굴림" charset="-127"/>
              </a:endParaRPr>
            </a:p>
          </p:txBody>
        </p:sp>
        <p:sp>
          <p:nvSpPr>
            <p:cNvPr id="90199" name="Text Box 87"/>
            <p:cNvSpPr txBox="1">
              <a:spLocks noChangeArrowheads="1"/>
            </p:cNvSpPr>
            <p:nvPr/>
          </p:nvSpPr>
          <p:spPr bwMode="gray">
            <a:xfrm>
              <a:off x="1393" y="1886"/>
              <a:ext cx="116" cy="29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>
              <a:spAutoFit/>
            </a:bodyPr>
            <a:lstStyle/>
            <a:p>
              <a:pPr algn="ctr" eaLnBrk="0" hangingPunct="0"/>
              <a:endParaRPr lang="en-US" altLang="ko-KR" sz="2400" dirty="0">
                <a:solidFill>
                  <a:schemeClr val="bg1"/>
                </a:solidFill>
                <a:ea typeface="굴림" charset="-127"/>
              </a:endParaRPr>
            </a:p>
          </p:txBody>
        </p:sp>
      </p:grpSp>
      <p:grpSp>
        <p:nvGrpSpPr>
          <p:cNvPr id="4" name="Group 88"/>
          <p:cNvGrpSpPr>
            <a:grpSpLocks/>
          </p:cNvGrpSpPr>
          <p:nvPr/>
        </p:nvGrpSpPr>
        <p:grpSpPr bwMode="auto">
          <a:xfrm>
            <a:off x="285720" y="3529018"/>
            <a:ext cx="4724400" cy="685800"/>
            <a:chOff x="1296" y="1824"/>
            <a:chExt cx="2976" cy="432"/>
          </a:xfrm>
        </p:grpSpPr>
        <p:sp>
          <p:nvSpPr>
            <p:cNvPr id="90201" name="AutoShape 89"/>
            <p:cNvSpPr>
              <a:spLocks noChangeArrowheads="1"/>
            </p:cNvSpPr>
            <p:nvPr/>
          </p:nvSpPr>
          <p:spPr bwMode="gray">
            <a:xfrm>
              <a:off x="1536" y="1869"/>
              <a:ext cx="2736" cy="288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90202" name="AutoShape 90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>
                <a:lumMod val="60000"/>
                <a:lumOff val="40000"/>
              </a:schemeClr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90203" name="Text Box 91"/>
            <p:cNvSpPr txBox="1">
              <a:spLocks noChangeArrowheads="1"/>
            </p:cNvSpPr>
            <p:nvPr/>
          </p:nvSpPr>
          <p:spPr bwMode="gray">
            <a:xfrm>
              <a:off x="1680" y="1896"/>
              <a:ext cx="2160" cy="2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>
              <a:spAutoFit/>
            </a:bodyPr>
            <a:lstStyle/>
            <a:p>
              <a:pPr algn="ctr" eaLnBrk="0" hangingPunct="0"/>
              <a:r>
                <a:rPr lang="ko-KR" altLang="en-US" b="1" dirty="0" smtClean="0">
                  <a:solidFill>
                    <a:schemeClr val="bg1"/>
                  </a:solidFill>
                  <a:ea typeface="굴림" charset="-127"/>
                </a:rPr>
                <a:t>학습내용</a:t>
              </a:r>
              <a:endParaRPr lang="en-US" altLang="ko-KR" b="1" dirty="0">
                <a:solidFill>
                  <a:schemeClr val="bg1"/>
                </a:solidFill>
                <a:ea typeface="굴림" charset="-127"/>
              </a:endParaRPr>
            </a:p>
          </p:txBody>
        </p:sp>
        <p:sp>
          <p:nvSpPr>
            <p:cNvPr id="90204" name="Text Box 92"/>
            <p:cNvSpPr txBox="1">
              <a:spLocks noChangeArrowheads="1"/>
            </p:cNvSpPr>
            <p:nvPr/>
          </p:nvSpPr>
          <p:spPr bwMode="gray">
            <a:xfrm>
              <a:off x="1393" y="1886"/>
              <a:ext cx="116" cy="29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none">
              <a:spAutoFit/>
            </a:bodyPr>
            <a:lstStyle/>
            <a:p>
              <a:pPr algn="ctr" eaLnBrk="0" hangingPunct="0"/>
              <a:endParaRPr lang="en-US" altLang="ko-KR" sz="2400" dirty="0">
                <a:solidFill>
                  <a:schemeClr val="bg1"/>
                </a:solidFill>
                <a:ea typeface="굴림" charset="-127"/>
              </a:endParaRPr>
            </a:p>
          </p:txBody>
        </p:sp>
      </p:grpSp>
      <p:sp>
        <p:nvSpPr>
          <p:cNvPr id="17" name="제목 1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b="1" smtClean="0">
                <a:latin typeface="나눔스퀘어라운드 ExtraBold"/>
              </a:rPr>
              <a:t>Contents</a:t>
            </a:r>
            <a:endParaRPr lang="ko-KR" altLang="en-US" sz="2400" b="1">
              <a:latin typeface="나눔스퀘어라운드 ExtraBold"/>
            </a:endParaRPr>
          </a:p>
        </p:txBody>
      </p:sp>
      <p:sp>
        <p:nvSpPr>
          <p:cNvPr id="24" name="바닥글 개체 틀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smtClean="0"/>
              <a:t>JSPStudy.co.kr</a:t>
            </a:r>
            <a:endParaRPr lang="en-US" altLang="ko-KR" dirty="0"/>
          </a:p>
        </p:txBody>
      </p:sp>
      <p:sp>
        <p:nvSpPr>
          <p:cNvPr id="25" name="Rectangle 3"/>
          <p:cNvSpPr txBox="1">
            <a:spLocks noChangeArrowheads="1"/>
          </p:cNvSpPr>
          <p:nvPr/>
        </p:nvSpPr>
        <p:spPr bwMode="auto">
          <a:xfrm>
            <a:off x="357158" y="1785926"/>
            <a:ext cx="8786842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</a:pPr>
            <a:r>
              <a:rPr lang="ko-KR" altLang="en-US" smtClean="0">
                <a:latin typeface="나눔스퀘어 Bold"/>
              </a:rPr>
              <a:t>유무선 공유기와 라즈베리파이를 이용하여 웹서버를 만들기</a:t>
            </a:r>
            <a:endParaRPr lang="en-US" altLang="ko-KR" smtClean="0">
              <a:latin typeface="나눔스퀘어 Bold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</a:pPr>
            <a:r>
              <a:rPr lang="ko-KR" altLang="en-US" smtClean="0">
                <a:latin typeface="나눔스퀘어 Bold"/>
              </a:rPr>
              <a:t>공유기의 포트포워딩이나 슈퍼디엠지 설정으로 인터넷을 통해 웹서버에 접속해</a:t>
            </a:r>
            <a:endParaRPr lang="en-US" altLang="ko-KR" smtClean="0">
              <a:latin typeface="나눔스퀘어 Bold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</a:pPr>
            <a:r>
              <a:rPr lang="ko-KR" altLang="en-US" smtClean="0">
                <a:latin typeface="나눔스퀘어 Bold"/>
              </a:rPr>
              <a:t>라즈베리파이로 </a:t>
            </a:r>
            <a:r>
              <a:rPr lang="en-US" altLang="ko-KR" smtClean="0">
                <a:latin typeface="나눔스퀘어 Bold"/>
              </a:rPr>
              <a:t>LED</a:t>
            </a:r>
            <a:r>
              <a:rPr lang="ko-KR" altLang="en-US" smtClean="0">
                <a:latin typeface="나눔스퀘어 Bold"/>
              </a:rPr>
              <a:t>를 제어</a:t>
            </a:r>
            <a:endParaRPr lang="en-US" altLang="ko-KR" dirty="0" smtClean="0">
              <a:latin typeface="나눔스퀘어 Bold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428596" y="4357718"/>
            <a:ext cx="7072362" cy="2357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/>
            </a:pPr>
            <a:r>
              <a:rPr lang="en-US" altLang="ko-KR" smtClean="0"/>
              <a:t>TCP/IP</a:t>
            </a:r>
            <a:r>
              <a:rPr lang="ko-KR" altLang="en-US" smtClean="0"/>
              <a:t>란 무엇인가</a:t>
            </a:r>
            <a:r>
              <a:rPr lang="en-US" altLang="ko-KR" smtClean="0"/>
              <a:t>?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/>
            </a:pPr>
            <a:r>
              <a:rPr lang="en-US" smtClean="0"/>
              <a:t>LAN </a:t>
            </a:r>
            <a:r>
              <a:rPr lang="ko-KR" altLang="en-US" smtClean="0"/>
              <a:t>과 </a:t>
            </a:r>
            <a:r>
              <a:rPr lang="en-US" altLang="ko-KR" smtClean="0"/>
              <a:t>WAN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/>
            </a:pPr>
            <a:r>
              <a:rPr lang="ko-KR" altLang="en-US" smtClean="0"/>
              <a:t>포트포워딩과 슈퍼디엠지</a:t>
            </a:r>
            <a:endParaRPr lang="en-US" altLang="ko-KR" smtClean="0"/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Font typeface="Wingdings" pitchFamily="2" charset="2"/>
              <a:buChar char="v"/>
              <a:defRPr/>
            </a:pPr>
            <a:r>
              <a:rPr lang="ko-KR" altLang="en-US" smtClean="0"/>
              <a:t>외부에서 인터넷으로 라즈베리파이 </a:t>
            </a:r>
            <a:r>
              <a:rPr lang="en-US" altLang="ko-KR" smtClean="0"/>
              <a:t>GPIO </a:t>
            </a:r>
            <a:r>
              <a:rPr lang="ko-KR" altLang="en-US" smtClean="0"/>
              <a:t>제어하기</a:t>
            </a:r>
            <a:endParaRPr lang="en-US" altLang="ko-K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1. TCP/IP 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란 무엇인가</a:t>
            </a:r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?</a:t>
            </a:r>
            <a:endParaRPr lang="ko-KR" altLang="en-US" sz="2400" b="1" dirty="0">
              <a:latin typeface="나눔"/>
              <a:ea typeface="나눔스퀘어라운드 ExtraBold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5752" y="3898005"/>
            <a:ext cx="82867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1400" smtClean="0">
                <a:latin typeface="나눔"/>
              </a:rPr>
              <a:t> TCP/IP </a:t>
            </a:r>
            <a:r>
              <a:rPr lang="ko-KR" altLang="en-US" sz="1400" smtClean="0">
                <a:latin typeface="나눔"/>
              </a:rPr>
              <a:t>는 인터넷에서 컴퓨터들이 서로 정보를 주고받는데 가장 많이 쓰이는 통신규약</a:t>
            </a:r>
            <a:r>
              <a:rPr lang="en-US" altLang="ko-KR" sz="1400" smtClean="0">
                <a:latin typeface="나눔"/>
              </a:rPr>
              <a:t>(</a:t>
            </a:r>
            <a:r>
              <a:rPr lang="ko-KR" altLang="en-US" sz="1400" smtClean="0">
                <a:latin typeface="나눔"/>
              </a:rPr>
              <a:t>프로토콜</a:t>
            </a:r>
            <a:r>
              <a:rPr lang="en-US" altLang="ko-KR" sz="1400" smtClean="0">
                <a:latin typeface="나눔"/>
              </a:rPr>
              <a:t>)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ko-KR" sz="1400" smtClean="0">
                <a:latin typeface="나눔"/>
              </a:rPr>
              <a:t> </a:t>
            </a:r>
            <a:r>
              <a:rPr lang="en-US" sz="1400" smtClean="0"/>
              <a:t>TCP/IP </a:t>
            </a:r>
            <a:r>
              <a:rPr lang="ko-KR" altLang="en-US" sz="1400" smtClean="0"/>
              <a:t>계층은 </a:t>
            </a:r>
            <a:r>
              <a:rPr lang="en-US" altLang="ko-KR" sz="1400" smtClean="0"/>
              <a:t>4</a:t>
            </a:r>
            <a:r>
              <a:rPr lang="ko-KR" altLang="en-US" sz="1400" smtClean="0"/>
              <a:t>가지로 응용</a:t>
            </a:r>
            <a:r>
              <a:rPr lang="en-US" altLang="ko-KR" sz="1400" smtClean="0"/>
              <a:t>, </a:t>
            </a:r>
            <a:r>
              <a:rPr lang="ko-KR" altLang="en-US" sz="1400" smtClean="0"/>
              <a:t>전송</a:t>
            </a:r>
            <a:r>
              <a:rPr lang="en-US" altLang="ko-KR" sz="1400" smtClean="0"/>
              <a:t>, </a:t>
            </a:r>
            <a:r>
              <a:rPr lang="ko-KR" altLang="en-US" sz="1400" smtClean="0"/>
              <a:t>네트워크</a:t>
            </a:r>
            <a:r>
              <a:rPr lang="en-US" altLang="ko-KR" sz="1400" smtClean="0"/>
              <a:t>, </a:t>
            </a:r>
            <a:r>
              <a:rPr lang="ko-KR" altLang="en-US" sz="1400" smtClean="0"/>
              <a:t>데이터링크 계층으로 이루어짐</a:t>
            </a:r>
            <a:endParaRPr lang="en-US" altLang="ko-KR" sz="140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ko-KR" sz="1400" smtClean="0">
                <a:latin typeface="나눔"/>
              </a:rPr>
              <a:t> </a:t>
            </a:r>
            <a:r>
              <a:rPr lang="en-US" sz="1400" smtClean="0"/>
              <a:t>TCP(Transmission Control Protocol) : </a:t>
            </a:r>
            <a:r>
              <a:rPr lang="ko-KR" altLang="en-US" sz="1400" smtClean="0"/>
              <a:t>서버와 클라이언트 간에 데이터를 신뢰성 있게 전달하기 위해 만들 어진 프로토콜</a:t>
            </a:r>
            <a:endParaRPr lang="en-US" altLang="ko-KR" sz="140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ko-KR" sz="1400" smtClean="0">
                <a:latin typeface="나눔"/>
              </a:rPr>
              <a:t> </a:t>
            </a:r>
            <a:r>
              <a:rPr lang="en-US" sz="1400" smtClean="0"/>
              <a:t>IP(Internet Protocol) : IP </a:t>
            </a:r>
            <a:r>
              <a:rPr lang="ko-KR" altLang="en-US" sz="1400" smtClean="0"/>
              <a:t>주소는 인터넷에 접속하기 위해 컴퓨터나 스마트폰 등에 부여하는 고유한 주소로써  “</a:t>
            </a:r>
            <a:r>
              <a:rPr lang="en-US" altLang="ko-KR" sz="1400" smtClean="0"/>
              <a:t>192.168.0.10”</a:t>
            </a:r>
            <a:r>
              <a:rPr lang="ko-KR" altLang="en-US" sz="1400" smtClean="0"/>
              <a:t>과 같은 </a:t>
            </a:r>
            <a:r>
              <a:rPr lang="en-US" altLang="ko-KR" sz="1400" smtClean="0"/>
              <a:t>4</a:t>
            </a:r>
            <a:r>
              <a:rPr lang="ko-KR" altLang="en-US" sz="1400" smtClean="0"/>
              <a:t>자리 숫자로 </a:t>
            </a:r>
            <a:r>
              <a:rPr lang="en-US" sz="1400" smtClean="0"/>
              <a:t>IP </a:t>
            </a:r>
            <a:r>
              <a:rPr lang="ko-KR" altLang="en-US" sz="1400" smtClean="0"/>
              <a:t>주소를 사용합니다</a:t>
            </a:r>
            <a:r>
              <a:rPr lang="en-US" altLang="ko-KR" sz="1400" smtClean="0"/>
              <a:t>. </a:t>
            </a:r>
            <a:endParaRPr lang="en-US" altLang="ko-KR" sz="1400" smtClean="0">
              <a:latin typeface="나눔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857232"/>
            <a:ext cx="3119710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2. LAN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과 </a:t>
            </a:r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WAN</a:t>
            </a:r>
            <a:endParaRPr lang="ko-KR" altLang="en-US" sz="2400" b="1" dirty="0">
              <a:latin typeface="나눔"/>
              <a:ea typeface="나눔스퀘어라운드 ExtraBold" pitchFamily="50" charset="-127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5" y="928670"/>
            <a:ext cx="6926539" cy="257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4214818"/>
            <a:ext cx="7892064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3. LAN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과 </a:t>
            </a:r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WAN</a:t>
            </a:r>
            <a:endParaRPr lang="ko-KR" altLang="en-US" sz="2400" b="1" dirty="0">
              <a:latin typeface="나눔"/>
              <a:ea typeface="나눔스퀘어라운드 Extra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1685" y="857232"/>
            <a:ext cx="2124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(1) IPv4 </a:t>
            </a:r>
            <a:r>
              <a:rPr lang="ko-KR" altLang="en-US" b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주소 체계</a:t>
            </a:r>
            <a:endParaRPr lang="ko-KR" altLang="en-US" b="1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1685" y="3143248"/>
            <a:ext cx="3482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(2) </a:t>
            </a:r>
            <a:r>
              <a:rPr lang="ko-KR" altLang="en-US" b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공인 </a:t>
            </a:r>
            <a:r>
              <a:rPr lang="en-US" altLang="ko-KR" b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IP </a:t>
            </a:r>
            <a:r>
              <a:rPr lang="ko-KR" altLang="en-US" b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주소와 사설 </a:t>
            </a:r>
            <a:r>
              <a:rPr lang="en-US" altLang="ko-KR" b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IP </a:t>
            </a:r>
            <a:r>
              <a:rPr lang="ko-KR" altLang="en-US" b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주소</a:t>
            </a:r>
            <a:endParaRPr lang="ko-KR" altLang="en-US" b="1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7737" y="1214422"/>
            <a:ext cx="5578709" cy="714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357158" y="2143116"/>
            <a:ext cx="51523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ko-KR" altLang="en-US" sz="1400" smtClean="0"/>
              <a:t> 주소길이 </a:t>
            </a:r>
            <a:r>
              <a:rPr lang="en-US" altLang="ko-KR" sz="1400" smtClean="0"/>
              <a:t>: 32</a:t>
            </a:r>
            <a:r>
              <a:rPr lang="ko-KR" altLang="en-US" sz="1400" smtClean="0"/>
              <a:t>비트</a:t>
            </a:r>
            <a:endParaRPr lang="en-US" altLang="ko-KR" sz="1400" smtClean="0"/>
          </a:p>
          <a:p>
            <a:pPr>
              <a:buFont typeface="Wingdings" pitchFamily="2" charset="2"/>
              <a:buChar char="Ø"/>
            </a:pPr>
            <a:r>
              <a:rPr lang="en-US" altLang="ko-KR" sz="1400" smtClean="0"/>
              <a:t> </a:t>
            </a:r>
            <a:r>
              <a:rPr lang="ko-KR" altLang="en-US" sz="1400" smtClean="0"/>
              <a:t>표시방법 </a:t>
            </a:r>
            <a:r>
              <a:rPr lang="en-US" altLang="ko-KR" sz="1400" smtClean="0"/>
              <a:t>: 8</a:t>
            </a:r>
            <a:r>
              <a:rPr lang="ko-KR" altLang="en-US" sz="1400" smtClean="0"/>
              <a:t>비트씩 </a:t>
            </a:r>
            <a:r>
              <a:rPr lang="en-US" altLang="ko-KR" sz="1400" smtClean="0"/>
              <a:t>4</a:t>
            </a:r>
            <a:r>
              <a:rPr lang="ko-KR" altLang="en-US" sz="1400" smtClean="0"/>
              <a:t>자리 </a:t>
            </a:r>
            <a:r>
              <a:rPr lang="en-US" altLang="ko-KR" sz="1400" smtClean="0"/>
              <a:t>10</a:t>
            </a:r>
            <a:r>
              <a:rPr lang="ko-KR" altLang="en-US" sz="1400" smtClean="0"/>
              <a:t>진수로 표현  예</a:t>
            </a:r>
            <a:r>
              <a:rPr lang="en-US" altLang="ko-KR" sz="1400" smtClean="0"/>
              <a:t>) </a:t>
            </a:r>
            <a:r>
              <a:rPr lang="en-US" altLang="ko-KR" sz="1400" b="1" smtClean="0"/>
              <a:t>202.30.64.22</a:t>
            </a:r>
          </a:p>
          <a:p>
            <a:pPr>
              <a:buFont typeface="Wingdings" pitchFamily="2" charset="2"/>
              <a:buChar char="Ø"/>
            </a:pPr>
            <a:r>
              <a:rPr lang="en-US" altLang="ko-KR" sz="1400" smtClean="0"/>
              <a:t> </a:t>
            </a:r>
            <a:r>
              <a:rPr lang="ko-KR" altLang="en-US" sz="1400" smtClean="0"/>
              <a:t>주소개수 </a:t>
            </a:r>
            <a:r>
              <a:rPr lang="en-US" altLang="ko-KR" sz="1400" smtClean="0"/>
              <a:t>: </a:t>
            </a:r>
            <a:r>
              <a:rPr lang="ko-KR" altLang="en-US" sz="1400" smtClean="0"/>
              <a:t>약 </a:t>
            </a:r>
            <a:r>
              <a:rPr lang="en-US" altLang="ko-KR" sz="1400" smtClean="0"/>
              <a:t>43</a:t>
            </a:r>
            <a:r>
              <a:rPr lang="ko-KR" altLang="en-US" sz="1400" smtClean="0"/>
              <a:t>억개</a:t>
            </a:r>
            <a:endParaRPr lang="en-US" altLang="ko-KR" sz="1400" smtClean="0"/>
          </a:p>
          <a:p>
            <a:pPr>
              <a:buFont typeface="Wingdings" pitchFamily="2" charset="2"/>
              <a:buChar char="Ø"/>
            </a:pPr>
            <a:endParaRPr lang="ko-KR" altLang="en-US" sz="140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19" y="3500438"/>
            <a:ext cx="4815807" cy="335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모서리가 둥근 직사각형 10"/>
          <p:cNvSpPr/>
          <p:nvPr/>
        </p:nvSpPr>
        <p:spPr>
          <a:xfrm>
            <a:off x="5214942" y="3286124"/>
            <a:ext cx="3786214" cy="1428760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schemeClr val="tx1"/>
                </a:solidFill>
              </a:rPr>
              <a:t>공인 </a:t>
            </a:r>
            <a:r>
              <a:rPr lang="en-US" altLang="ko-KR" sz="1400" smtClean="0">
                <a:solidFill>
                  <a:schemeClr val="tx1"/>
                </a:solidFill>
              </a:rPr>
              <a:t>IP </a:t>
            </a:r>
            <a:r>
              <a:rPr lang="ko-KR" altLang="en-US" sz="1400" smtClean="0">
                <a:solidFill>
                  <a:schemeClr val="tx1"/>
                </a:solidFill>
              </a:rPr>
              <a:t>주소</a:t>
            </a:r>
            <a:r>
              <a:rPr lang="en-US" altLang="ko-KR" sz="1400" smtClean="0">
                <a:solidFill>
                  <a:schemeClr val="tx1"/>
                </a:solidFill>
              </a:rPr>
              <a:t> :  </a:t>
            </a:r>
            <a:r>
              <a:rPr lang="ko-KR" altLang="en-US" sz="1400" smtClean="0">
                <a:solidFill>
                  <a:schemeClr val="tx1"/>
                </a:solidFill>
              </a:rPr>
              <a:t>공인기관에서 인증한 공개 형 </a:t>
            </a:r>
            <a:r>
              <a:rPr lang="en-US" sz="1400" smtClean="0">
                <a:solidFill>
                  <a:schemeClr val="tx1"/>
                </a:solidFill>
              </a:rPr>
              <a:t>IP </a:t>
            </a:r>
            <a:r>
              <a:rPr lang="ko-KR" altLang="en-US" sz="1400" smtClean="0">
                <a:solidFill>
                  <a:schemeClr val="tx1"/>
                </a:solidFill>
              </a:rPr>
              <a:t>주소로</a:t>
            </a:r>
            <a:r>
              <a:rPr lang="en-US" altLang="ko-KR" sz="1400" smtClean="0">
                <a:solidFill>
                  <a:schemeClr val="tx1"/>
                </a:solidFill>
              </a:rPr>
              <a:t>, </a:t>
            </a:r>
            <a:r>
              <a:rPr lang="ko-KR" altLang="en-US" sz="1400" smtClean="0">
                <a:solidFill>
                  <a:schemeClr val="tx1"/>
                </a:solidFill>
              </a:rPr>
              <a:t>외부에 공개되어 있기 때문에 다른 컴퓨터에서 검색 또는 접근이 가능 합니다</a:t>
            </a:r>
            <a:r>
              <a:rPr lang="en-US" altLang="ko-KR" sz="1400" smtClean="0">
                <a:solidFill>
                  <a:schemeClr val="tx1"/>
                </a:solidFill>
              </a:rPr>
              <a:t>.</a:t>
            </a:r>
            <a:r>
              <a:rPr lang="ko-KR" altLang="en-US" sz="1400" smtClean="0">
                <a:solidFill>
                  <a:schemeClr val="tx1"/>
                </a:solidFill>
              </a:rPr>
              <a:t> 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12" name="모서리가 둥근 직사각형 11"/>
          <p:cNvSpPr/>
          <p:nvPr/>
        </p:nvSpPr>
        <p:spPr>
          <a:xfrm>
            <a:off x="5214942" y="4786322"/>
            <a:ext cx="3786214" cy="171451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schemeClr val="tx1"/>
                </a:solidFill>
              </a:rPr>
              <a:t>내부</a:t>
            </a:r>
            <a:r>
              <a:rPr lang="en-US" altLang="ko-KR" sz="1400" smtClean="0">
                <a:solidFill>
                  <a:schemeClr val="tx1"/>
                </a:solidFill>
              </a:rPr>
              <a:t>(</a:t>
            </a:r>
            <a:r>
              <a:rPr lang="ko-KR" altLang="en-US" sz="1400" smtClean="0">
                <a:solidFill>
                  <a:schemeClr val="tx1"/>
                </a:solidFill>
              </a:rPr>
              <a:t>사설</a:t>
            </a:r>
            <a:r>
              <a:rPr lang="en-US" altLang="ko-KR" sz="1400" smtClean="0">
                <a:solidFill>
                  <a:schemeClr val="tx1"/>
                </a:solidFill>
              </a:rPr>
              <a:t>) </a:t>
            </a:r>
            <a:r>
              <a:rPr lang="en-US" sz="1400" smtClean="0">
                <a:solidFill>
                  <a:schemeClr val="tx1"/>
                </a:solidFill>
              </a:rPr>
              <a:t>IP </a:t>
            </a:r>
            <a:r>
              <a:rPr lang="ko-KR" altLang="en-US" sz="1400" smtClean="0">
                <a:solidFill>
                  <a:schemeClr val="tx1"/>
                </a:solidFill>
              </a:rPr>
              <a:t>주소 </a:t>
            </a:r>
            <a:r>
              <a:rPr lang="en-US" altLang="ko-KR" sz="1400" smtClean="0">
                <a:solidFill>
                  <a:schemeClr val="tx1"/>
                </a:solidFill>
              </a:rPr>
              <a:t>: </a:t>
            </a:r>
            <a:r>
              <a:rPr lang="ko-KR" altLang="en-US" sz="1400" smtClean="0">
                <a:solidFill>
                  <a:schemeClr val="tx1"/>
                </a:solidFill>
              </a:rPr>
              <a:t>폐쇄형으로 외부에서 검색 또는 접근이 불가능합니다</a:t>
            </a:r>
            <a:r>
              <a:rPr lang="en-US" altLang="ko-KR" sz="1400" smtClean="0">
                <a:solidFill>
                  <a:schemeClr val="tx1"/>
                </a:solidFill>
              </a:rPr>
              <a:t>. </a:t>
            </a:r>
            <a:r>
              <a:rPr lang="ko-KR" altLang="en-US" sz="1400" smtClean="0">
                <a:solidFill>
                  <a:schemeClr val="tx1"/>
                </a:solidFill>
              </a:rPr>
              <a:t>공유기의 내부 </a:t>
            </a:r>
            <a:r>
              <a:rPr lang="en-US" sz="1400" smtClean="0">
                <a:solidFill>
                  <a:schemeClr val="tx1"/>
                </a:solidFill>
              </a:rPr>
              <a:t>IP </a:t>
            </a:r>
            <a:r>
              <a:rPr lang="ko-KR" altLang="en-US" sz="1400" smtClean="0">
                <a:solidFill>
                  <a:schemeClr val="tx1"/>
                </a:solidFill>
              </a:rPr>
              <a:t>주소가 “</a:t>
            </a:r>
            <a:r>
              <a:rPr lang="en-US" altLang="ko-KR" sz="1400" smtClean="0">
                <a:solidFill>
                  <a:schemeClr val="tx1"/>
                </a:solidFill>
              </a:rPr>
              <a:t>192.168.0.1” </a:t>
            </a:r>
            <a:r>
              <a:rPr lang="ko-KR" altLang="en-US" sz="1400" smtClean="0">
                <a:solidFill>
                  <a:schemeClr val="tx1"/>
                </a:solidFill>
              </a:rPr>
              <a:t>이고 연결된 컴퓨터나 핸드폰의 사설 </a:t>
            </a:r>
            <a:r>
              <a:rPr lang="en-US" sz="1400" smtClean="0">
                <a:solidFill>
                  <a:schemeClr val="tx1"/>
                </a:solidFill>
              </a:rPr>
              <a:t>IP </a:t>
            </a:r>
            <a:r>
              <a:rPr lang="ko-KR" altLang="en-US" sz="1400" smtClean="0">
                <a:solidFill>
                  <a:schemeClr val="tx1"/>
                </a:solidFill>
              </a:rPr>
              <a:t>주소는 </a:t>
            </a:r>
            <a:r>
              <a:rPr lang="en-US" altLang="ko-KR" sz="1400" smtClean="0">
                <a:solidFill>
                  <a:schemeClr val="tx1"/>
                </a:solidFill>
              </a:rPr>
              <a:t>192.168.0.2 ~ 192.168.0.254 </a:t>
            </a:r>
            <a:r>
              <a:rPr lang="ko-KR" altLang="en-US" sz="1400" smtClean="0">
                <a:solidFill>
                  <a:schemeClr val="tx1"/>
                </a:solidFill>
              </a:rPr>
              <a:t>까지 끝자리 숫자를 바꿔서 설정</a:t>
            </a:r>
            <a:endParaRPr lang="ko-KR" altLang="en-US" sz="1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2. LAN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과 </a:t>
            </a:r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WAN</a:t>
            </a:r>
            <a:endParaRPr lang="ko-KR" altLang="en-US" sz="2400" b="1" dirty="0">
              <a:latin typeface="나눔"/>
              <a:ea typeface="나눔스퀘어라운드 ExtraBold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1685" y="857232"/>
            <a:ext cx="2075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(3) </a:t>
            </a:r>
            <a:r>
              <a:rPr lang="ko-KR" altLang="en-US" b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포트</a:t>
            </a:r>
            <a:r>
              <a:rPr lang="en-US" altLang="ko-KR" b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(Port)</a:t>
            </a:r>
            <a:r>
              <a:rPr lang="ko-KR" altLang="en-US" b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란 </a:t>
            </a:r>
            <a:r>
              <a:rPr lang="en-US" altLang="ko-KR" b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?</a:t>
            </a:r>
            <a:endParaRPr lang="ko-KR" altLang="en-US" b="1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5720" y="1285860"/>
            <a:ext cx="864399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ko-KR" altLang="en-US" sz="1400" smtClean="0"/>
              <a:t> 포트번호는 컴퓨터 내에 동작하는 여러 프로그램 중 접속 가능한 특정 프로세스를 식별하는 기능</a:t>
            </a:r>
            <a:endParaRPr lang="en-US" altLang="ko-KR" sz="1400" smtClean="0"/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en-US" altLang="ko-KR" sz="1400" smtClean="0"/>
              <a:t> </a:t>
            </a:r>
            <a:r>
              <a:rPr lang="ko-KR" altLang="en-US" sz="1400" smtClean="0"/>
              <a:t>예를 들어서 보안이 추가된 웹서비스 </a:t>
            </a:r>
            <a:r>
              <a:rPr lang="en-US" sz="1400" smtClean="0">
                <a:hlinkClick r:id="rId2"/>
              </a:rPr>
              <a:t>https://www.naver.com/</a:t>
            </a:r>
            <a:r>
              <a:rPr lang="en-US" sz="1400" smtClean="0"/>
              <a:t>  </a:t>
            </a:r>
            <a:r>
              <a:rPr lang="ko-KR" altLang="en-US" sz="1400" smtClean="0"/>
              <a:t>의 포트 번호는</a:t>
            </a:r>
            <a:r>
              <a:rPr lang="en-US" altLang="ko-KR" sz="1400" smtClean="0"/>
              <a:t>  443 </a:t>
            </a:r>
            <a:r>
              <a:rPr lang="ko-KR" altLang="en-US" sz="1400" smtClean="0"/>
              <a:t>이므로 네이버 </a:t>
            </a:r>
            <a:endParaRPr lang="en-US" altLang="ko-KR" sz="1400" smtClean="0"/>
          </a:p>
          <a:p>
            <a:pPr>
              <a:lnSpc>
                <a:spcPct val="150000"/>
              </a:lnSpc>
            </a:pPr>
            <a:r>
              <a:rPr lang="ko-KR" altLang="en-US" sz="1400" smtClean="0"/>
              <a:t>웹사이트를 보기 위해 포트번호를 포함한 주소는 </a:t>
            </a:r>
            <a:r>
              <a:rPr lang="en-US" sz="1400" smtClean="0">
                <a:hlinkClick r:id="rId2"/>
              </a:rPr>
              <a:t>https://www.naver.com:443</a:t>
            </a:r>
            <a:r>
              <a:rPr lang="en-US" sz="1400" smtClean="0"/>
              <a:t> </a:t>
            </a:r>
            <a:r>
              <a:rPr lang="ko-KR" altLang="en-US" sz="1400" smtClean="0"/>
              <a:t>와 같다</a:t>
            </a:r>
            <a:r>
              <a:rPr lang="en-US" altLang="ko-KR" sz="1400" smtClean="0"/>
              <a:t>.</a:t>
            </a:r>
            <a:endParaRPr lang="ko-KR" altLang="en-US" sz="140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5" y="2500306"/>
            <a:ext cx="6413309" cy="4071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3. 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포트포워딩과 슈퍼디엠지</a:t>
            </a:r>
            <a:endParaRPr lang="ko-KR" altLang="en-US" sz="2400" b="1" dirty="0">
              <a:latin typeface="나눔"/>
              <a:ea typeface="나눔스퀘어라운드 ExtraBold" pitchFamily="50" charset="-127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285860"/>
            <a:ext cx="5838825" cy="363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14282" y="85723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>
                <a:latin typeface="나눔스퀘어 Bold"/>
              </a:rPr>
              <a:t>포트포워딩</a:t>
            </a:r>
            <a:endParaRPr lang="ko-KR" altLang="en-US" b="1">
              <a:latin typeface="나눔스퀘어 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7158" y="4857760"/>
            <a:ext cx="6572295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ko-KR" altLang="en-US" sz="1400" smtClean="0">
                <a:latin typeface="나눔"/>
              </a:rPr>
              <a:t> 공유기의 공인 </a:t>
            </a:r>
            <a:r>
              <a:rPr lang="en-US" sz="1400" smtClean="0">
                <a:latin typeface="나눔"/>
              </a:rPr>
              <a:t>IP</a:t>
            </a:r>
            <a:r>
              <a:rPr lang="ko-KR" altLang="en-US" sz="1400" smtClean="0">
                <a:latin typeface="나눔"/>
              </a:rPr>
              <a:t>로 특정 포트로 접근하는 경우에 내부의 특정 </a:t>
            </a:r>
            <a:r>
              <a:rPr lang="en-US" sz="1400" smtClean="0">
                <a:latin typeface="나눔"/>
              </a:rPr>
              <a:t>IP</a:t>
            </a:r>
            <a:r>
              <a:rPr lang="ko-KR" altLang="en-US" sz="1400" smtClean="0">
                <a:latin typeface="나눔"/>
              </a:rPr>
              <a:t>로 안내해 주는 기능</a:t>
            </a:r>
            <a:endParaRPr lang="en-US" altLang="ko-KR" sz="1400" smtClean="0">
              <a:latin typeface="나눔"/>
            </a:endParaRP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ko-KR" altLang="en-US" sz="1400" smtClean="0">
                <a:latin typeface="나눔"/>
              </a:rPr>
              <a:t> 그림을 보면 </a:t>
            </a:r>
            <a:r>
              <a:rPr lang="en-US" sz="1400" smtClean="0">
                <a:latin typeface="나눔"/>
              </a:rPr>
              <a:t>KT</a:t>
            </a:r>
            <a:r>
              <a:rPr lang="ko-KR" altLang="en-US" sz="1400" smtClean="0">
                <a:latin typeface="나눔"/>
              </a:rPr>
              <a:t>나 </a:t>
            </a:r>
            <a:r>
              <a:rPr lang="en-US" sz="1400" smtClean="0">
                <a:latin typeface="나눔"/>
              </a:rPr>
              <a:t>SK </a:t>
            </a:r>
            <a:r>
              <a:rPr lang="ko-KR" altLang="en-US" sz="1400" smtClean="0">
                <a:latin typeface="나눔"/>
              </a:rPr>
              <a:t>등에서 제공하는 공인 </a:t>
            </a:r>
            <a:r>
              <a:rPr lang="en-US" sz="1400" smtClean="0">
                <a:latin typeface="나눔"/>
              </a:rPr>
              <a:t>IP </a:t>
            </a:r>
            <a:r>
              <a:rPr lang="ko-KR" altLang="en-US" sz="1400" smtClean="0">
                <a:latin typeface="나눔"/>
              </a:rPr>
              <a:t>주소가 “</a:t>
            </a:r>
            <a:r>
              <a:rPr lang="en-US" altLang="ko-KR" sz="1400" smtClean="0">
                <a:latin typeface="나눔"/>
              </a:rPr>
              <a:t>82.10.250.19” </a:t>
            </a:r>
            <a:r>
              <a:rPr lang="ko-KR" altLang="en-US" sz="1400" smtClean="0">
                <a:latin typeface="나눔"/>
              </a:rPr>
              <a:t>일 때 특정 포트인 </a:t>
            </a:r>
            <a:r>
              <a:rPr lang="en-US" altLang="ko-KR" sz="1400" smtClean="0">
                <a:latin typeface="나눔"/>
              </a:rPr>
              <a:t>8080 </a:t>
            </a:r>
            <a:r>
              <a:rPr lang="ko-KR" altLang="en-US" sz="1400" smtClean="0">
                <a:latin typeface="나눔"/>
              </a:rPr>
              <a:t>포트로 접근하는 경우에 내부 </a:t>
            </a:r>
            <a:r>
              <a:rPr lang="en-US" sz="1400" smtClean="0">
                <a:latin typeface="나눔"/>
              </a:rPr>
              <a:t>IP</a:t>
            </a:r>
            <a:r>
              <a:rPr lang="ko-KR" altLang="en-US" sz="1400" smtClean="0">
                <a:latin typeface="나눔"/>
              </a:rPr>
              <a:t>인 </a:t>
            </a:r>
            <a:r>
              <a:rPr lang="en-US" altLang="ko-KR" sz="1400" smtClean="0">
                <a:latin typeface="나눔"/>
              </a:rPr>
              <a:t>192.168.0.104:8080 </a:t>
            </a:r>
            <a:r>
              <a:rPr lang="ko-KR" altLang="en-US" sz="1400" smtClean="0">
                <a:latin typeface="나눔"/>
              </a:rPr>
              <a:t>으로 접근할 수 있도록 공유기의 규칙을 정해주는 것</a:t>
            </a:r>
            <a:endParaRPr lang="ko-KR" altLang="en-US" sz="1400">
              <a:latin typeface="나눔"/>
            </a:endParaRPr>
          </a:p>
        </p:txBody>
      </p:sp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3. 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포트포워딩과 슈퍼디엠지</a:t>
            </a:r>
            <a:endParaRPr lang="ko-KR" altLang="en-US" sz="2400" b="1" dirty="0">
              <a:latin typeface="나눔"/>
              <a:ea typeface="나눔스퀘어라운드 ExtraBold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4282" y="85723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>
                <a:latin typeface="나눔스퀘어 Bold"/>
              </a:rPr>
              <a:t>슈퍼디엠지</a:t>
            </a:r>
            <a:endParaRPr lang="ko-KR" altLang="en-US" b="1">
              <a:latin typeface="나눔스퀘어 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7158" y="4857760"/>
            <a:ext cx="657229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ko-KR" altLang="en-US" sz="1400" smtClean="0">
                <a:latin typeface="나눔"/>
              </a:rPr>
              <a:t> 공유기의 공인 </a:t>
            </a:r>
            <a:r>
              <a:rPr lang="en-US" sz="1400" smtClean="0">
                <a:latin typeface="나눔"/>
              </a:rPr>
              <a:t>IP</a:t>
            </a:r>
            <a:r>
              <a:rPr lang="ko-KR" altLang="en-US" sz="1400" smtClean="0">
                <a:latin typeface="나눔"/>
              </a:rPr>
              <a:t>로 특정 포트로 접근하는 경우에 내부의 특정 </a:t>
            </a:r>
            <a:r>
              <a:rPr lang="en-US" altLang="ko-KR" sz="1400" smtClean="0">
                <a:latin typeface="나눔"/>
              </a:rPr>
              <a:t>MAC </a:t>
            </a:r>
            <a:r>
              <a:rPr lang="ko-KR" altLang="en-US" sz="1400" smtClean="0">
                <a:latin typeface="나눔"/>
              </a:rPr>
              <a:t>주소로 안내해 주는 기능  </a:t>
            </a:r>
            <a:r>
              <a:rPr lang="en-US" altLang="ko-KR" sz="1200" smtClean="0">
                <a:latin typeface="나눔"/>
              </a:rPr>
              <a:t>(MAC </a:t>
            </a:r>
            <a:r>
              <a:rPr lang="ko-KR" altLang="en-US" sz="1200" smtClean="0">
                <a:latin typeface="나눔"/>
              </a:rPr>
              <a:t>주소</a:t>
            </a:r>
            <a:r>
              <a:rPr lang="en-US" altLang="ko-KR" sz="1200" smtClean="0">
                <a:latin typeface="나눔"/>
              </a:rPr>
              <a:t> : </a:t>
            </a:r>
            <a:r>
              <a:rPr lang="ko-KR" altLang="en-US" sz="1200" smtClean="0">
                <a:latin typeface="나눔"/>
              </a:rPr>
              <a:t>기기의 고유 식별 수단</a:t>
            </a:r>
            <a:r>
              <a:rPr lang="en-US" altLang="ko-KR" sz="1200" smtClean="0">
                <a:latin typeface="나눔"/>
              </a:rPr>
              <a:t>, </a:t>
            </a:r>
            <a:r>
              <a:rPr lang="ko-KR" altLang="en-US" sz="1200" smtClean="0">
                <a:latin typeface="나눔"/>
              </a:rPr>
              <a:t>변경할 수 없음</a:t>
            </a:r>
            <a:r>
              <a:rPr lang="en-US" altLang="ko-KR" sz="1200" smtClean="0">
                <a:latin typeface="나눔"/>
              </a:rPr>
              <a:t>)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ko-KR" altLang="en-US" sz="1400" smtClean="0">
                <a:latin typeface="나눔"/>
              </a:rPr>
              <a:t> 공유기로 연결된 특정기기에 공인 </a:t>
            </a:r>
            <a:r>
              <a:rPr lang="en-US" altLang="ko-KR" sz="1400" smtClean="0">
                <a:latin typeface="나눔"/>
              </a:rPr>
              <a:t>IP </a:t>
            </a:r>
            <a:r>
              <a:rPr lang="ko-KR" altLang="en-US" sz="1400" smtClean="0">
                <a:latin typeface="나눔"/>
              </a:rPr>
              <a:t>를 그대로 할당</a:t>
            </a:r>
            <a:endParaRPr lang="ko-KR" altLang="en-US" sz="1400">
              <a:latin typeface="나눔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257310"/>
            <a:ext cx="5848350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3. 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포트포워딩과 슈퍼디엠지</a:t>
            </a:r>
            <a:endParaRPr lang="ko-KR" altLang="en-US" sz="2400" b="1" dirty="0">
              <a:latin typeface="나눔"/>
              <a:ea typeface="나눔스퀘어라운드 ExtraBold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4282" y="916528"/>
            <a:ext cx="2459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smtClean="0">
                <a:solidFill>
                  <a:schemeClr val="accent1"/>
                </a:solidFill>
                <a:latin typeface="나눔스퀘어 Bold"/>
              </a:rPr>
              <a:t>03-1 </a:t>
            </a:r>
            <a:r>
              <a:rPr lang="ko-KR" altLang="en-US" b="1" smtClean="0">
                <a:solidFill>
                  <a:schemeClr val="accent1"/>
                </a:solidFill>
                <a:latin typeface="나눔스퀘어 Bold"/>
              </a:rPr>
              <a:t>공유기 설정하기</a:t>
            </a:r>
            <a:endParaRPr lang="ko-KR" altLang="en-US" b="1">
              <a:solidFill>
                <a:schemeClr val="accent1"/>
              </a:solidFill>
              <a:latin typeface="나눔스퀘어 Bold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7240" y="1428736"/>
            <a:ext cx="8896792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3. 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포트포워딩과 슈퍼디엠지</a:t>
            </a:r>
            <a:endParaRPr lang="ko-KR" altLang="en-US" sz="2400" b="1" dirty="0">
              <a:latin typeface="나눔"/>
              <a:ea typeface="나눔스퀘어라운드 ExtraBold" pitchFamily="50" charset="-127"/>
            </a:endParaRP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857232"/>
            <a:ext cx="3714776" cy="334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1196183"/>
            <a:ext cx="5572164" cy="22328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034" y="3714752"/>
            <a:ext cx="7362318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3. 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포트포워딩과 슈퍼디엠지</a:t>
            </a:r>
            <a:endParaRPr lang="ko-KR" altLang="en-US" sz="2400" b="1" dirty="0">
              <a:latin typeface="나눔"/>
              <a:ea typeface="나눔스퀘어라운드 ExtraBold" pitchFamily="50" charset="-127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7500" y="1071546"/>
            <a:ext cx="8307904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3. 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포트포워딩과 슈퍼디엠지</a:t>
            </a:r>
            <a:endParaRPr lang="ko-KR" altLang="en-US" sz="2400" b="1" dirty="0">
              <a:latin typeface="나눔"/>
              <a:ea typeface="나눔스퀘어라운드 ExtraBold" pitchFamily="50" charset="-127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000108"/>
            <a:ext cx="8462981" cy="53136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3. 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포트포워딩과 슈퍼디엠지</a:t>
            </a:r>
            <a:endParaRPr lang="ko-KR" altLang="en-US" sz="2400" b="1" dirty="0">
              <a:latin typeface="나눔"/>
              <a:ea typeface="나눔스퀘어라운드 ExtraBold" pitchFamily="50" charset="-127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7344" y="928670"/>
            <a:ext cx="6850738" cy="5572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4. 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외부에서 인터넷으로 라즈베리파이 </a:t>
            </a:r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GPIO 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제어하기</a:t>
            </a:r>
            <a:endParaRPr lang="ko-KR" altLang="en-US" sz="2400" b="1" dirty="0">
              <a:latin typeface="나눔"/>
              <a:ea typeface="나눔스퀘어라운드 ExtraBold" pitchFamily="50" charset="-127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000108"/>
            <a:ext cx="7358114" cy="3930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4. 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외부에서 인터넷으로 라즈베리파이 </a:t>
            </a:r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GPIO 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제어하기</a:t>
            </a:r>
            <a:endParaRPr lang="ko-KR" altLang="en-US" sz="2400" b="1" dirty="0">
              <a:latin typeface="나눔"/>
              <a:ea typeface="나눔스퀘어라운드 ExtraBold" pitchFamily="50" charset="-127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857232"/>
            <a:ext cx="3619509" cy="1280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2214553"/>
            <a:ext cx="5500726" cy="44005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4. 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외부에서 인터넷으로 라즈베리파이 </a:t>
            </a:r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GPIO 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제어하기</a:t>
            </a:r>
            <a:endParaRPr lang="ko-KR" altLang="en-US" sz="2400" b="1" dirty="0">
              <a:latin typeface="나눔"/>
              <a:ea typeface="나눔스퀘어라운드 ExtraBold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0034" y="142873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357158" y="1214422"/>
            <a:ext cx="3571900" cy="54292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000" smtClean="0">
              <a:solidFill>
                <a:schemeClr val="tx1"/>
              </a:solidFill>
            </a:endParaRPr>
          </a:p>
          <a:p>
            <a:r>
              <a:rPr lang="en-US" sz="1000" smtClean="0">
                <a:solidFill>
                  <a:schemeClr val="tx1"/>
                </a:solidFill>
              </a:rPr>
              <a:t>#-*-coding:utf-8-*-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/>
            </a:r>
            <a:br>
              <a:rPr lang="en-US" sz="1000" smtClean="0">
                <a:solidFill>
                  <a:schemeClr val="tx1"/>
                </a:solidFill>
              </a:rPr>
            </a:br>
            <a:r>
              <a:rPr lang="en-US" sz="1000" smtClean="0">
                <a:solidFill>
                  <a:srgbClr val="FF0000"/>
                </a:solidFill>
              </a:rPr>
              <a:t># </a:t>
            </a:r>
            <a:r>
              <a:rPr lang="ko-KR" altLang="en-US" sz="1000" smtClean="0">
                <a:solidFill>
                  <a:srgbClr val="FF0000"/>
                </a:solidFill>
              </a:rPr>
              <a:t>필요한 라이브러리를 불러옵니다</a:t>
            </a:r>
            <a:r>
              <a:rPr lang="en-US" altLang="ko-KR" sz="1000" smtClean="0">
                <a:solidFill>
                  <a:srgbClr val="FF0000"/>
                </a:solidFill>
              </a:rPr>
              <a:t>. </a:t>
            </a:r>
            <a:endParaRPr lang="ko-KR" altLang="en-US" sz="1000" smtClean="0">
              <a:solidFill>
                <a:srgbClr val="FF0000"/>
              </a:solidFill>
            </a:endParaRPr>
          </a:p>
          <a:p>
            <a:r>
              <a:rPr lang="en-US" sz="1000" smtClean="0">
                <a:solidFill>
                  <a:schemeClr val="tx1"/>
                </a:solidFill>
              </a:rPr>
              <a:t>import RPi.GPIO as GPIO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>from flask import Flask, render_template, request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>app = Flask(__name__)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/>
            </a:r>
            <a:br>
              <a:rPr lang="en-US" sz="1000" smtClean="0">
                <a:solidFill>
                  <a:schemeClr val="tx1"/>
                </a:solidFill>
              </a:rPr>
            </a:br>
            <a:r>
              <a:rPr lang="en-US" sz="1000" smtClean="0">
                <a:solidFill>
                  <a:srgbClr val="FF0000"/>
                </a:solidFill>
              </a:rPr>
              <a:t># </a:t>
            </a:r>
            <a:r>
              <a:rPr lang="ko-KR" altLang="en-US" sz="1000" smtClean="0">
                <a:solidFill>
                  <a:srgbClr val="FF0000"/>
                </a:solidFill>
              </a:rPr>
              <a:t>불필요한 </a:t>
            </a:r>
            <a:r>
              <a:rPr lang="en-US" sz="1000" smtClean="0">
                <a:solidFill>
                  <a:srgbClr val="FF0000"/>
                </a:solidFill>
              </a:rPr>
              <a:t>warning </a:t>
            </a:r>
            <a:r>
              <a:rPr lang="ko-KR" altLang="en-US" sz="1000" smtClean="0">
                <a:solidFill>
                  <a:srgbClr val="FF0000"/>
                </a:solidFill>
              </a:rPr>
              <a:t>제거</a:t>
            </a:r>
            <a:r>
              <a:rPr lang="en-US" altLang="ko-KR" sz="1000" smtClean="0">
                <a:solidFill>
                  <a:srgbClr val="FF0000"/>
                </a:solidFill>
              </a:rPr>
              <a:t>,  </a:t>
            </a:r>
            <a:r>
              <a:rPr lang="en-US" sz="1000" smtClean="0">
                <a:solidFill>
                  <a:srgbClr val="FF0000"/>
                </a:solidFill>
              </a:rPr>
              <a:t>GPIO</a:t>
            </a:r>
            <a:r>
              <a:rPr lang="ko-KR" altLang="en-US" sz="1000" smtClean="0">
                <a:solidFill>
                  <a:srgbClr val="FF0000"/>
                </a:solidFill>
              </a:rPr>
              <a:t>핀의 번호 모드 설정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>GPIO.setwarnings(False)  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>GPIO.setmode(GPIO.BCM)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/>
            </a:r>
            <a:br>
              <a:rPr lang="en-US" sz="1000" smtClean="0">
                <a:solidFill>
                  <a:schemeClr val="tx1"/>
                </a:solidFill>
              </a:rPr>
            </a:br>
            <a:r>
              <a:rPr lang="en-US" sz="1000" smtClean="0">
                <a:solidFill>
                  <a:srgbClr val="FF0000"/>
                </a:solidFill>
              </a:rPr>
              <a:t># pins</a:t>
            </a:r>
            <a:r>
              <a:rPr lang="ko-KR" altLang="en-US" sz="1000" smtClean="0">
                <a:solidFill>
                  <a:srgbClr val="FF0000"/>
                </a:solidFill>
              </a:rPr>
              <a:t>란 딕셔너리를 만들고 </a:t>
            </a:r>
            <a:r>
              <a:rPr lang="en-US" sz="1000" smtClean="0">
                <a:solidFill>
                  <a:srgbClr val="FF0000"/>
                </a:solidFill>
              </a:rPr>
              <a:t>GPIO 23, 24, 25 </a:t>
            </a:r>
            <a:r>
              <a:rPr lang="ko-KR" altLang="en-US" sz="1000" smtClean="0">
                <a:solidFill>
                  <a:srgbClr val="FF0000"/>
                </a:solidFill>
              </a:rPr>
              <a:t>핀을 저장합니다</a:t>
            </a:r>
            <a:r>
              <a:rPr lang="en-US" altLang="ko-KR" sz="1000" smtClean="0">
                <a:solidFill>
                  <a:srgbClr val="FF0000"/>
                </a:solidFill>
              </a:rPr>
              <a:t>.</a:t>
            </a:r>
            <a:endParaRPr lang="ko-KR" altLang="en-US" sz="1000" smtClean="0">
              <a:solidFill>
                <a:srgbClr val="FF0000"/>
              </a:solidFill>
            </a:endParaRPr>
          </a:p>
          <a:p>
            <a:r>
              <a:rPr lang="en-US" sz="1000" smtClean="0">
                <a:solidFill>
                  <a:schemeClr val="tx1"/>
                </a:solidFill>
              </a:rPr>
              <a:t>pins = {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>   23 : {'name' : 'RED LED', 'state' : GPIO.LOW},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>   24 : {'name' : 'Yellow LED', 'state' : GPIO.LOW},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>   25 : {'name' : 'Green LED', 'state' : GPIO.LOW}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>}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/>
            </a:r>
            <a:br>
              <a:rPr lang="en-US" sz="1000" smtClean="0">
                <a:solidFill>
                  <a:schemeClr val="tx1"/>
                </a:solidFill>
              </a:rPr>
            </a:br>
            <a:r>
              <a:rPr lang="en-US" sz="1000" smtClean="0">
                <a:solidFill>
                  <a:srgbClr val="FF0000"/>
                </a:solidFill>
              </a:rPr>
              <a:t># pins </a:t>
            </a:r>
            <a:r>
              <a:rPr lang="ko-KR" altLang="en-US" sz="1000" smtClean="0">
                <a:solidFill>
                  <a:srgbClr val="FF0000"/>
                </a:solidFill>
              </a:rPr>
              <a:t>내에 있는 모든 핀들을 출력으로 설정하고 초기 </a:t>
            </a:r>
            <a:r>
              <a:rPr lang="en-US" sz="1000" smtClean="0">
                <a:solidFill>
                  <a:srgbClr val="FF0000"/>
                </a:solidFill>
              </a:rPr>
              <a:t>LED OFF </a:t>
            </a:r>
            <a:r>
              <a:rPr lang="ko-KR" altLang="en-US" sz="1000" smtClean="0">
                <a:solidFill>
                  <a:srgbClr val="FF0000"/>
                </a:solidFill>
              </a:rPr>
              <a:t>설정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>for pin in pins: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>   GPIO.setup(pin, GPIO.OUT)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>   GPIO.output(pin, GPIO.LOW)</a:t>
            </a:r>
          </a:p>
          <a:p>
            <a:r>
              <a:rPr lang="en-US" sz="1000" smtClean="0">
                <a:solidFill>
                  <a:schemeClr val="tx1"/>
                </a:solidFill>
              </a:rPr>
              <a:t/>
            </a:r>
            <a:br>
              <a:rPr lang="en-US" sz="1000" smtClean="0">
                <a:solidFill>
                  <a:schemeClr val="tx1"/>
                </a:solidFill>
              </a:rPr>
            </a:br>
            <a:r>
              <a:rPr lang="en-US" sz="1000" smtClean="0">
                <a:solidFill>
                  <a:schemeClr val="tx1"/>
                </a:solidFill>
              </a:rPr>
              <a:t/>
            </a:r>
            <a:br>
              <a:rPr lang="en-US" sz="1000" smtClean="0">
                <a:solidFill>
                  <a:schemeClr val="tx1"/>
                </a:solidFill>
              </a:rPr>
            </a:br>
            <a:endParaRPr lang="ko-KR" altLang="en-US" sz="1000">
              <a:solidFill>
                <a:schemeClr val="tx1"/>
              </a:solidFill>
              <a:latin typeface="나눔스퀘어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57158" y="857232"/>
            <a:ext cx="8501122" cy="3271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smtClean="0">
                <a:latin typeface="나눔스퀘어 Bold"/>
              </a:rPr>
              <a:t>실습파일</a:t>
            </a:r>
            <a:r>
              <a:rPr lang="en-US" altLang="ko-KR" sz="1600" smtClean="0">
                <a:latin typeface="나눔스퀘어 Bold"/>
              </a:rPr>
              <a:t>: /home/pi/webapps/ch11/homeLED.py</a:t>
            </a:r>
            <a:endParaRPr lang="ko-KR" altLang="en-US" sz="1600">
              <a:latin typeface="나눔스퀘어 Bold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000496" y="1214422"/>
            <a:ext cx="4857784" cy="54292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Ins="0" rtlCol="0" anchor="ctr"/>
          <a:lstStyle/>
          <a:p>
            <a:r>
              <a:rPr lang="en-US" altLang="ko-KR" sz="900" smtClean="0">
                <a:solidFill>
                  <a:srgbClr val="FF0000"/>
                </a:solidFill>
              </a:rPr>
              <a:t># </a:t>
            </a:r>
            <a:r>
              <a:rPr lang="ko-KR" altLang="en-US" sz="900" smtClean="0">
                <a:solidFill>
                  <a:srgbClr val="FF0000"/>
                </a:solidFill>
              </a:rPr>
              <a:t>웹서버의 </a:t>
            </a:r>
            <a:r>
              <a:rPr lang="en-US" sz="900" smtClean="0">
                <a:solidFill>
                  <a:srgbClr val="FF0000"/>
                </a:solidFill>
              </a:rPr>
              <a:t>URL </a:t>
            </a:r>
            <a:r>
              <a:rPr lang="ko-KR" altLang="en-US" sz="900" smtClean="0">
                <a:solidFill>
                  <a:srgbClr val="FF0000"/>
                </a:solidFill>
              </a:rPr>
              <a:t>주소로 접근하면 아래의 </a:t>
            </a:r>
            <a:r>
              <a:rPr lang="en-US" sz="900" smtClean="0">
                <a:solidFill>
                  <a:srgbClr val="FF0000"/>
                </a:solidFill>
              </a:rPr>
              <a:t>main() </a:t>
            </a:r>
            <a:r>
              <a:rPr lang="ko-KR" altLang="en-US" sz="900" smtClean="0">
                <a:solidFill>
                  <a:srgbClr val="FF0000"/>
                </a:solidFill>
              </a:rPr>
              <a:t>함수를 실행</a:t>
            </a:r>
          </a:p>
          <a:p>
            <a:r>
              <a:rPr lang="en-US" altLang="ko-KR" sz="900" smtClean="0">
                <a:solidFill>
                  <a:schemeClr val="tx1"/>
                </a:solidFill>
              </a:rPr>
              <a:t>@</a:t>
            </a:r>
            <a:r>
              <a:rPr lang="en-US" sz="900" smtClean="0">
                <a:solidFill>
                  <a:schemeClr val="tx1"/>
                </a:solidFill>
              </a:rPr>
              <a:t>app.route("/")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def main():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</a:t>
            </a:r>
            <a:r>
              <a:rPr lang="en-US" sz="900" smtClean="0">
                <a:solidFill>
                  <a:srgbClr val="FF0000"/>
                </a:solidFill>
              </a:rPr>
              <a:t>  # pins </a:t>
            </a:r>
            <a:r>
              <a:rPr lang="ko-KR" altLang="en-US" sz="900" smtClean="0">
                <a:solidFill>
                  <a:srgbClr val="FF0000"/>
                </a:solidFill>
              </a:rPr>
              <a:t>내에 있는 모든 핀의 현재 핀 상태</a:t>
            </a:r>
            <a:r>
              <a:rPr lang="en-US" altLang="ko-KR" sz="900" smtClean="0">
                <a:solidFill>
                  <a:srgbClr val="FF0000"/>
                </a:solidFill>
              </a:rPr>
              <a:t>(</a:t>
            </a:r>
            <a:r>
              <a:rPr lang="en-US" sz="900" smtClean="0">
                <a:solidFill>
                  <a:srgbClr val="FF0000"/>
                </a:solidFill>
              </a:rPr>
              <a:t>ON/OFF)</a:t>
            </a:r>
            <a:r>
              <a:rPr lang="ko-KR" altLang="en-US" sz="900" smtClean="0">
                <a:solidFill>
                  <a:srgbClr val="FF0000"/>
                </a:solidFill>
              </a:rPr>
              <a:t>를 업데이트</a:t>
            </a:r>
          </a:p>
          <a:p>
            <a:r>
              <a:rPr lang="ko-KR" altLang="en-US" sz="900" smtClean="0">
                <a:solidFill>
                  <a:schemeClr val="tx1"/>
                </a:solidFill>
              </a:rPr>
              <a:t>   </a:t>
            </a:r>
            <a:r>
              <a:rPr lang="en-US" sz="900" smtClean="0">
                <a:solidFill>
                  <a:schemeClr val="tx1"/>
                </a:solidFill>
              </a:rPr>
              <a:t>for pin in pins: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    pins[pin]['state'] = GPIO.input(pin)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</a:t>
            </a:r>
            <a:r>
              <a:rPr lang="en-US" sz="900" smtClean="0">
                <a:solidFill>
                  <a:srgbClr val="FF0000"/>
                </a:solidFill>
              </a:rPr>
              <a:t> # tmplateData </a:t>
            </a:r>
            <a:r>
              <a:rPr lang="ko-KR" altLang="en-US" sz="900" smtClean="0">
                <a:solidFill>
                  <a:srgbClr val="FF0000"/>
                </a:solidFill>
              </a:rPr>
              <a:t>에 저장</a:t>
            </a:r>
          </a:p>
          <a:p>
            <a:r>
              <a:rPr lang="ko-KR" altLang="en-US" sz="900" smtClean="0">
                <a:solidFill>
                  <a:schemeClr val="tx1"/>
                </a:solidFill>
              </a:rPr>
              <a:t>   </a:t>
            </a:r>
            <a:r>
              <a:rPr lang="en-US" sz="900" smtClean="0">
                <a:solidFill>
                  <a:schemeClr val="tx1"/>
                </a:solidFill>
              </a:rPr>
              <a:t>templateData = {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    'pins' : pins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    }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</a:t>
            </a:r>
            <a:r>
              <a:rPr lang="en-US" sz="900" smtClean="0">
                <a:solidFill>
                  <a:srgbClr val="FF0000"/>
                </a:solidFill>
              </a:rPr>
              <a:t> # </a:t>
            </a:r>
            <a:r>
              <a:rPr lang="ko-KR" altLang="en-US" sz="900" smtClean="0">
                <a:solidFill>
                  <a:srgbClr val="FF0000"/>
                </a:solidFill>
              </a:rPr>
              <a:t>업데이트 된 </a:t>
            </a:r>
            <a:r>
              <a:rPr lang="en-US" sz="900" smtClean="0">
                <a:solidFill>
                  <a:srgbClr val="FF0000"/>
                </a:solidFill>
              </a:rPr>
              <a:t>templateDate </a:t>
            </a:r>
            <a:r>
              <a:rPr lang="ko-KR" altLang="en-US" sz="900" smtClean="0">
                <a:solidFill>
                  <a:srgbClr val="FF0000"/>
                </a:solidFill>
              </a:rPr>
              <a:t>값들을 </a:t>
            </a:r>
            <a:r>
              <a:rPr lang="en-US" sz="900" smtClean="0">
                <a:solidFill>
                  <a:srgbClr val="FF0000"/>
                </a:solidFill>
              </a:rPr>
              <a:t>homeLED.html</a:t>
            </a:r>
            <a:r>
              <a:rPr lang="ko-KR" altLang="en-US" sz="900" smtClean="0">
                <a:solidFill>
                  <a:srgbClr val="FF0000"/>
                </a:solidFill>
              </a:rPr>
              <a:t>로 리턴</a:t>
            </a:r>
          </a:p>
          <a:p>
            <a:r>
              <a:rPr lang="ko-KR" altLang="en-US" sz="900" smtClean="0">
                <a:solidFill>
                  <a:schemeClr val="tx1"/>
                </a:solidFill>
              </a:rPr>
              <a:t>   </a:t>
            </a:r>
            <a:r>
              <a:rPr lang="en-US" sz="900" smtClean="0">
                <a:solidFill>
                  <a:schemeClr val="tx1"/>
                </a:solidFill>
              </a:rPr>
              <a:t>return render_template('homeLED.html', **templateData)</a:t>
            </a:r>
          </a:p>
          <a:p>
            <a:r>
              <a:rPr lang="en-US" sz="900" smtClean="0">
                <a:solidFill>
                  <a:schemeClr val="tx1"/>
                </a:solidFill>
              </a:rPr>
              <a:t/>
            </a:r>
            <a:br>
              <a:rPr lang="en-US" sz="900" smtClean="0">
                <a:solidFill>
                  <a:schemeClr val="tx1"/>
                </a:solidFill>
              </a:rPr>
            </a:br>
            <a:r>
              <a:rPr lang="en-US" sz="900" smtClean="0">
                <a:solidFill>
                  <a:srgbClr val="FF0000"/>
                </a:solidFill>
              </a:rPr>
              <a:t># URL </a:t>
            </a:r>
            <a:r>
              <a:rPr lang="ko-KR" altLang="en-US" sz="900" smtClean="0">
                <a:solidFill>
                  <a:srgbClr val="FF0000"/>
                </a:solidFill>
              </a:rPr>
              <a:t>주소 끝에 “</a:t>
            </a:r>
            <a:r>
              <a:rPr lang="en-US" altLang="ko-KR" sz="900" smtClean="0">
                <a:solidFill>
                  <a:srgbClr val="FF0000"/>
                </a:solidFill>
              </a:rPr>
              <a:t>/</a:t>
            </a:r>
            <a:r>
              <a:rPr lang="ko-KR" altLang="en-US" sz="900" smtClean="0">
                <a:solidFill>
                  <a:srgbClr val="FF0000"/>
                </a:solidFill>
              </a:rPr>
              <a:t>핀번호</a:t>
            </a:r>
            <a:r>
              <a:rPr lang="en-US" altLang="ko-KR" sz="900" smtClean="0">
                <a:solidFill>
                  <a:srgbClr val="FF0000"/>
                </a:solidFill>
              </a:rPr>
              <a:t>/&lt;</a:t>
            </a:r>
            <a:r>
              <a:rPr lang="en-US" sz="900" smtClean="0">
                <a:solidFill>
                  <a:srgbClr val="FF0000"/>
                </a:solidFill>
              </a:rPr>
              <a:t>action&gt;”</a:t>
            </a:r>
            <a:r>
              <a:rPr lang="ko-KR" altLang="en-US" sz="900" smtClean="0">
                <a:solidFill>
                  <a:srgbClr val="FF0000"/>
                </a:solidFill>
              </a:rPr>
              <a:t>을 붙여서 접근시에 </a:t>
            </a:r>
            <a:r>
              <a:rPr lang="en-US" sz="900" smtClean="0">
                <a:solidFill>
                  <a:srgbClr val="FF0000"/>
                </a:solidFill>
              </a:rPr>
              <a:t>action </a:t>
            </a:r>
            <a:r>
              <a:rPr lang="ko-KR" altLang="en-US" sz="900" smtClean="0">
                <a:solidFill>
                  <a:srgbClr val="FF0000"/>
                </a:solidFill>
              </a:rPr>
              <a:t>값에 따라 동작</a:t>
            </a:r>
          </a:p>
          <a:p>
            <a:r>
              <a:rPr lang="en-US" altLang="ko-KR" sz="900" smtClean="0">
                <a:solidFill>
                  <a:schemeClr val="tx1"/>
                </a:solidFill>
              </a:rPr>
              <a:t>@</a:t>
            </a:r>
            <a:r>
              <a:rPr lang="en-US" sz="900" smtClean="0">
                <a:solidFill>
                  <a:schemeClr val="tx1"/>
                </a:solidFill>
              </a:rPr>
              <a:t>app.route("/&lt;changePin&gt;/&lt;action&gt;")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def action(changePin, action):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</a:t>
            </a:r>
            <a:r>
              <a:rPr lang="en-US" sz="900" smtClean="0">
                <a:solidFill>
                  <a:srgbClr val="FF0000"/>
                </a:solidFill>
              </a:rPr>
              <a:t> # </a:t>
            </a:r>
            <a:r>
              <a:rPr lang="ko-KR" altLang="en-US" sz="900" smtClean="0">
                <a:solidFill>
                  <a:srgbClr val="FF0000"/>
                </a:solidFill>
              </a:rPr>
              <a:t>현재 핀번호를 </a:t>
            </a:r>
            <a:r>
              <a:rPr lang="en-US" sz="900" smtClean="0">
                <a:solidFill>
                  <a:srgbClr val="FF0000"/>
                </a:solidFill>
              </a:rPr>
              <a:t>URL </a:t>
            </a:r>
            <a:r>
              <a:rPr lang="ko-KR" altLang="en-US" sz="900" smtClean="0">
                <a:solidFill>
                  <a:srgbClr val="FF0000"/>
                </a:solidFill>
              </a:rPr>
              <a:t>주소로 받은 핀번호로 설정</a:t>
            </a:r>
          </a:p>
          <a:p>
            <a:r>
              <a:rPr lang="ko-KR" altLang="en-US" sz="900" smtClean="0">
                <a:solidFill>
                  <a:schemeClr val="tx1"/>
                </a:solidFill>
              </a:rPr>
              <a:t>   </a:t>
            </a:r>
            <a:r>
              <a:rPr lang="en-US" sz="900" smtClean="0">
                <a:solidFill>
                  <a:schemeClr val="tx1"/>
                </a:solidFill>
              </a:rPr>
              <a:t>changePin = int(changePin)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</a:t>
            </a:r>
            <a:r>
              <a:rPr lang="en-US" sz="900" smtClean="0">
                <a:solidFill>
                  <a:srgbClr val="FF0000"/>
                </a:solidFill>
              </a:rPr>
              <a:t> # </a:t>
            </a:r>
            <a:r>
              <a:rPr lang="ko-KR" altLang="en-US" sz="900" smtClean="0">
                <a:solidFill>
                  <a:srgbClr val="FF0000"/>
                </a:solidFill>
              </a:rPr>
              <a:t>핀번호에 설정된 이름값을 불러옴</a:t>
            </a:r>
          </a:p>
          <a:p>
            <a:r>
              <a:rPr lang="ko-KR" altLang="en-US" sz="900" smtClean="0">
                <a:solidFill>
                  <a:schemeClr val="tx1"/>
                </a:solidFill>
              </a:rPr>
              <a:t>   </a:t>
            </a:r>
            <a:r>
              <a:rPr lang="en-US" sz="900" smtClean="0">
                <a:solidFill>
                  <a:schemeClr val="tx1"/>
                </a:solidFill>
              </a:rPr>
              <a:t>deviceName = pins[changePin]['name']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</a:t>
            </a:r>
            <a:r>
              <a:rPr lang="en-US" sz="900" smtClean="0">
                <a:solidFill>
                  <a:srgbClr val="FF0000"/>
                </a:solidFill>
              </a:rPr>
              <a:t> # action </a:t>
            </a:r>
            <a:r>
              <a:rPr lang="ko-KR" altLang="en-US" sz="900" smtClean="0">
                <a:solidFill>
                  <a:srgbClr val="FF0000"/>
                </a:solidFill>
              </a:rPr>
              <a:t>값이 ‘</a:t>
            </a:r>
            <a:r>
              <a:rPr lang="en-US" sz="900" smtClean="0">
                <a:solidFill>
                  <a:srgbClr val="FF0000"/>
                </a:solidFill>
              </a:rPr>
              <a:t>on’</a:t>
            </a:r>
            <a:r>
              <a:rPr lang="ko-KR" altLang="en-US" sz="900" smtClean="0">
                <a:solidFill>
                  <a:srgbClr val="FF0000"/>
                </a:solidFill>
              </a:rPr>
              <a:t>일때</a:t>
            </a:r>
          </a:p>
          <a:p>
            <a:r>
              <a:rPr lang="ko-KR" altLang="en-US" sz="900" smtClean="0">
                <a:solidFill>
                  <a:schemeClr val="tx1"/>
                </a:solidFill>
              </a:rPr>
              <a:t>   </a:t>
            </a:r>
            <a:r>
              <a:rPr lang="en-US" sz="900" smtClean="0">
                <a:solidFill>
                  <a:schemeClr val="tx1"/>
                </a:solidFill>
              </a:rPr>
              <a:t>if action == "on":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    GPIO.output(changePin, GPIO.HIGH)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 </a:t>
            </a:r>
            <a:r>
              <a:rPr lang="en-US" sz="900" smtClean="0">
                <a:solidFill>
                  <a:srgbClr val="FF0000"/>
                </a:solidFill>
              </a:rPr>
              <a:t># action </a:t>
            </a:r>
            <a:r>
              <a:rPr lang="ko-KR" altLang="en-US" sz="900" smtClean="0">
                <a:solidFill>
                  <a:srgbClr val="FF0000"/>
                </a:solidFill>
              </a:rPr>
              <a:t>값이 ‘</a:t>
            </a:r>
            <a:r>
              <a:rPr lang="en-US" sz="900" smtClean="0">
                <a:solidFill>
                  <a:srgbClr val="FF0000"/>
                </a:solidFill>
              </a:rPr>
              <a:t>off’</a:t>
            </a:r>
            <a:r>
              <a:rPr lang="ko-KR" altLang="en-US" sz="900" smtClean="0">
                <a:solidFill>
                  <a:srgbClr val="FF0000"/>
                </a:solidFill>
              </a:rPr>
              <a:t>일때</a:t>
            </a:r>
          </a:p>
          <a:p>
            <a:r>
              <a:rPr lang="ko-KR" altLang="en-US" sz="900" smtClean="0">
                <a:solidFill>
                  <a:schemeClr val="tx1"/>
                </a:solidFill>
              </a:rPr>
              <a:t>   </a:t>
            </a:r>
            <a:r>
              <a:rPr lang="en-US" sz="900" smtClean="0">
                <a:solidFill>
                  <a:schemeClr val="tx1"/>
                </a:solidFill>
              </a:rPr>
              <a:t>if action == "off":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    GPIO.output(changePin, GPIO.LOW)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 </a:t>
            </a:r>
            <a:r>
              <a:rPr lang="en-US" sz="900" smtClean="0">
                <a:solidFill>
                  <a:srgbClr val="FF0000"/>
                </a:solidFill>
              </a:rPr>
              <a:t># GPIO </a:t>
            </a:r>
            <a:r>
              <a:rPr lang="ko-KR" altLang="en-US" sz="900" smtClean="0">
                <a:solidFill>
                  <a:srgbClr val="FF0000"/>
                </a:solidFill>
              </a:rPr>
              <a:t>핀의 </a:t>
            </a:r>
            <a:r>
              <a:rPr lang="en-US" sz="900" smtClean="0">
                <a:solidFill>
                  <a:srgbClr val="FF0000"/>
                </a:solidFill>
              </a:rPr>
              <a:t>ON/OFF </a:t>
            </a:r>
            <a:r>
              <a:rPr lang="ko-KR" altLang="en-US" sz="900" smtClean="0">
                <a:solidFill>
                  <a:srgbClr val="FF0000"/>
                </a:solidFill>
              </a:rPr>
              <a:t>상태 저장</a:t>
            </a:r>
          </a:p>
          <a:p>
            <a:r>
              <a:rPr lang="ko-KR" altLang="en-US" sz="900" smtClean="0">
                <a:solidFill>
                  <a:schemeClr val="tx1"/>
                </a:solidFill>
              </a:rPr>
              <a:t>   </a:t>
            </a:r>
            <a:r>
              <a:rPr lang="en-US" sz="900" smtClean="0">
                <a:solidFill>
                  <a:schemeClr val="tx1"/>
                </a:solidFill>
              </a:rPr>
              <a:t>pins[changPin]['state'] = GPIO.input(changPin)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</a:t>
            </a:r>
            <a:r>
              <a:rPr lang="en-US" sz="900" smtClean="0">
                <a:solidFill>
                  <a:srgbClr val="FF0000"/>
                </a:solidFill>
              </a:rPr>
              <a:t> # </a:t>
            </a:r>
            <a:r>
              <a:rPr lang="ko-KR" altLang="en-US" sz="900" smtClean="0">
                <a:solidFill>
                  <a:srgbClr val="FF0000"/>
                </a:solidFill>
              </a:rPr>
              <a:t>핀들의 값들을 업데이트 해서 </a:t>
            </a:r>
            <a:r>
              <a:rPr lang="en-US" sz="900" smtClean="0">
                <a:solidFill>
                  <a:srgbClr val="FF0000"/>
                </a:solidFill>
              </a:rPr>
              <a:t>templateData</a:t>
            </a:r>
            <a:r>
              <a:rPr lang="ko-KR" altLang="en-US" sz="900" smtClean="0">
                <a:solidFill>
                  <a:srgbClr val="FF0000"/>
                </a:solidFill>
              </a:rPr>
              <a:t>에 저장</a:t>
            </a:r>
          </a:p>
          <a:p>
            <a:r>
              <a:rPr lang="ko-KR" altLang="en-US" sz="900" smtClean="0">
                <a:solidFill>
                  <a:schemeClr val="tx1"/>
                </a:solidFill>
              </a:rPr>
              <a:t>   </a:t>
            </a:r>
            <a:r>
              <a:rPr lang="en-US" sz="900" smtClean="0">
                <a:solidFill>
                  <a:schemeClr val="tx1"/>
                </a:solidFill>
              </a:rPr>
              <a:t>templateData = {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    'pins' : pins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 }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</a:t>
            </a:r>
            <a:r>
              <a:rPr lang="en-US" sz="900" smtClean="0">
                <a:solidFill>
                  <a:srgbClr val="FF0000"/>
                </a:solidFill>
              </a:rPr>
              <a:t> # </a:t>
            </a:r>
            <a:r>
              <a:rPr lang="ko-KR" altLang="en-US" sz="900" smtClean="0">
                <a:solidFill>
                  <a:srgbClr val="FF0000"/>
                </a:solidFill>
              </a:rPr>
              <a:t>업데이트 된 </a:t>
            </a:r>
            <a:r>
              <a:rPr lang="en-US" sz="900" smtClean="0">
                <a:solidFill>
                  <a:srgbClr val="FF0000"/>
                </a:solidFill>
              </a:rPr>
              <a:t>templateDate </a:t>
            </a:r>
            <a:r>
              <a:rPr lang="ko-KR" altLang="en-US" sz="900" smtClean="0">
                <a:solidFill>
                  <a:srgbClr val="FF0000"/>
                </a:solidFill>
              </a:rPr>
              <a:t>값들을 </a:t>
            </a:r>
            <a:r>
              <a:rPr lang="en-US" sz="900" smtClean="0">
                <a:solidFill>
                  <a:srgbClr val="FF0000"/>
                </a:solidFill>
              </a:rPr>
              <a:t>homeLED.html</a:t>
            </a:r>
            <a:r>
              <a:rPr lang="ko-KR" altLang="en-US" sz="900" smtClean="0">
                <a:solidFill>
                  <a:srgbClr val="FF0000"/>
                </a:solidFill>
              </a:rPr>
              <a:t>로 리턴</a:t>
            </a:r>
          </a:p>
          <a:p>
            <a:r>
              <a:rPr lang="ko-KR" altLang="en-US" sz="900" smtClean="0">
                <a:solidFill>
                  <a:schemeClr val="tx1"/>
                </a:solidFill>
              </a:rPr>
              <a:t>   </a:t>
            </a:r>
            <a:r>
              <a:rPr lang="en-US" sz="900" smtClean="0">
                <a:solidFill>
                  <a:schemeClr val="tx1"/>
                </a:solidFill>
              </a:rPr>
              <a:t>return render_template('homeLED.html', **templateData)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 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if __name__ == "__main__":</a:t>
            </a:r>
          </a:p>
          <a:p>
            <a:r>
              <a:rPr lang="en-US" sz="900" smtClean="0">
                <a:solidFill>
                  <a:schemeClr val="tx1"/>
                </a:solidFill>
              </a:rPr>
              <a:t>   app.run(host='0.0.0.0', port=5000, debug=False)</a:t>
            </a:r>
            <a:endParaRPr lang="en-US" sz="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4. 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외부에서 인터넷으로 라즈베리파이 </a:t>
            </a:r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GPIO 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제어하기</a:t>
            </a:r>
            <a:endParaRPr lang="ko-KR" altLang="en-US" sz="2400" b="1" dirty="0">
              <a:latin typeface="나눔"/>
              <a:ea typeface="나눔스퀘어라운드 ExtraBold" pitchFamily="50" charset="-127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0552" y="785794"/>
            <a:ext cx="7896224" cy="5997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4. 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외부에서 인터넷으로 라즈베리파이 </a:t>
            </a:r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GPIO 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제어하기</a:t>
            </a:r>
            <a:endParaRPr lang="ko-KR" altLang="en-US" sz="2400" b="1" dirty="0">
              <a:latin typeface="나눔"/>
              <a:ea typeface="나눔스퀘어라운드 ExtraBold" pitchFamily="50" charset="-127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000108"/>
            <a:ext cx="8800885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4. 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외부에서 인터넷으로 라즈베리파이 </a:t>
            </a:r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GPIO 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제어하기</a:t>
            </a:r>
            <a:endParaRPr lang="ko-KR" altLang="en-US" sz="2400" b="1" dirty="0">
              <a:latin typeface="나눔"/>
              <a:ea typeface="나눔스퀘어라운드 ExtraBold" pitchFamily="50" charset="-127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7691" y="785794"/>
            <a:ext cx="8153399" cy="6019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4. 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외부에서 인터넷으로 라즈베리파이 </a:t>
            </a:r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GPIO 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제어하기</a:t>
            </a:r>
            <a:endParaRPr lang="ko-KR" altLang="en-US" sz="2400" b="1" dirty="0">
              <a:latin typeface="나눔"/>
              <a:ea typeface="나눔스퀘어라운드 ExtraBold" pitchFamily="50" charset="-127"/>
            </a:endParaRP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785794"/>
            <a:ext cx="61722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4. 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외부에서 인터넷으로 라즈베리파이 </a:t>
            </a:r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GPIO 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제어하기</a:t>
            </a:r>
            <a:endParaRPr lang="ko-KR" altLang="en-US" sz="2400" b="1" dirty="0">
              <a:latin typeface="나눔"/>
              <a:ea typeface="나눔스퀘어라운드 ExtraBold" pitchFamily="50" charset="-127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9100" y="1000108"/>
            <a:ext cx="8305800" cy="481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4. 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외부에서 인터넷으로 라즈베리파이 </a:t>
            </a:r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GPIO 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제어하기</a:t>
            </a:r>
            <a:endParaRPr lang="ko-KR" altLang="en-US" sz="2400" b="1" dirty="0">
              <a:latin typeface="나눔"/>
              <a:ea typeface="나눔스퀘어라운드 ExtraBold" pitchFamily="50" charset="-127"/>
            </a:endParaRPr>
          </a:p>
        </p:txBody>
      </p:sp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9128" y="785794"/>
            <a:ext cx="7581896" cy="5854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4. 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외부에서 인터넷으로 라즈베리파이 </a:t>
            </a:r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GPIO 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제어하기</a:t>
            </a:r>
            <a:endParaRPr lang="ko-KR" altLang="en-US" sz="2400" b="1" dirty="0">
              <a:latin typeface="나눔"/>
              <a:ea typeface="나눔스퀘어라운드 ExtraBold" pitchFamily="50" charset="-127"/>
            </a:endParaRP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004897"/>
            <a:ext cx="8181975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647295" y="188640"/>
            <a:ext cx="7920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4. 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외부에서 인터넷으로 라즈베리파이 </a:t>
            </a:r>
            <a:r>
              <a:rPr lang="en-US" altLang="ko-KR" sz="2400" b="1" smtClean="0">
                <a:latin typeface="나눔"/>
                <a:ea typeface="나눔스퀘어라운드 ExtraBold" pitchFamily="50" charset="-127"/>
              </a:rPr>
              <a:t>GPIO </a:t>
            </a:r>
            <a:r>
              <a:rPr lang="ko-KR" altLang="en-US" sz="2400" b="1" smtClean="0">
                <a:latin typeface="나눔"/>
                <a:ea typeface="나눔스퀘어라운드 ExtraBold" pitchFamily="50" charset="-127"/>
              </a:rPr>
              <a:t>제어하기</a:t>
            </a:r>
            <a:endParaRPr lang="ko-KR" altLang="en-US" sz="2400" b="1" dirty="0">
              <a:latin typeface="나눔"/>
              <a:ea typeface="나눔스퀘어라운드 ExtraBold" pitchFamily="50" charset="-127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000108"/>
            <a:ext cx="8201025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728844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9" name="WordArt 5"/>
          <p:cNvSpPr>
            <a:spLocks noChangeArrowheads="1" noChangeShapeType="1" noTextEdit="1"/>
          </p:cNvSpPr>
          <p:nvPr/>
        </p:nvSpPr>
        <p:spPr bwMode="gray">
          <a:xfrm>
            <a:off x="2012950" y="4953000"/>
            <a:ext cx="5378450" cy="6858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ko-KR" sz="3600" b="1" kern="10">
                <a:ln w="19050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latin typeface="Arial"/>
                <a:cs typeface="Arial"/>
              </a:rPr>
              <a:t>Thank You !</a:t>
            </a:r>
            <a:endParaRPr lang="ko-KR" altLang="en-US" sz="3600" b="1" kern="10">
              <a:ln w="19050">
                <a:solidFill>
                  <a:schemeClr val="bg1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effectLst>
                <a:outerShdw dist="63500" dir="2212194" algn="ctr" rotWithShape="0">
                  <a:srgbClr val="868686">
                    <a:alpha val="50000"/>
                  </a:srgbClr>
                </a:outerShdw>
              </a:effectLst>
              <a:latin typeface="Arial"/>
              <a:cs typeface="Arial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-32" y="6572272"/>
            <a:ext cx="2895600" cy="320675"/>
          </a:xfrm>
          <a:prstGeom prst="rect">
            <a:avLst/>
          </a:prstGeom>
        </p:spPr>
        <p:txBody>
          <a:bodyPr/>
          <a:lstStyle/>
          <a:p>
            <a:r>
              <a:rPr lang="en-US" altLang="ko-KR" smtClean="0"/>
              <a:t>JSPStudy.co.kr</a:t>
            </a:r>
            <a:endParaRPr lang="en-US" altLang="ko-K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80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80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8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9" grpId="0" animBg="1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4833</TotalTime>
  <Words>498</Words>
  <Application>Microsoft Office PowerPoint</Application>
  <PresentationFormat>화면 슬라이드 쇼(4:3)</PresentationFormat>
  <Paragraphs>118</Paragraphs>
  <Slides>25</Slides>
  <Notes>2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6" baseType="lpstr">
      <vt:lpstr>Office 테마</vt:lpstr>
      <vt:lpstr>PowerPoint 프레젠테이션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라즈베리파이 설치</dc:title>
  <dc:creator>ssarmango</dc:creator>
  <cp:lastModifiedBy>JSPStudy</cp:lastModifiedBy>
  <cp:revision>452</cp:revision>
  <dcterms:created xsi:type="dcterms:W3CDTF">2017-08-23T11:56:55Z</dcterms:created>
  <dcterms:modified xsi:type="dcterms:W3CDTF">2020-01-17T05:38:30Z</dcterms:modified>
</cp:coreProperties>
</file>