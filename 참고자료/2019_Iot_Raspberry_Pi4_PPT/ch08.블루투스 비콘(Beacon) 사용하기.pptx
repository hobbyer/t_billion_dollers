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5"/>
  </p:notesMasterIdLst>
  <p:sldIdLst>
    <p:sldId id="323" r:id="rId2"/>
    <p:sldId id="330" r:id="rId3"/>
    <p:sldId id="362" r:id="rId4"/>
    <p:sldId id="421" r:id="rId5"/>
    <p:sldId id="422" r:id="rId6"/>
    <p:sldId id="423" r:id="rId7"/>
    <p:sldId id="424" r:id="rId8"/>
    <p:sldId id="425" r:id="rId9"/>
    <p:sldId id="436" r:id="rId10"/>
    <p:sldId id="437" r:id="rId11"/>
    <p:sldId id="438" r:id="rId12"/>
    <p:sldId id="439" r:id="rId13"/>
    <p:sldId id="442" r:id="rId14"/>
    <p:sldId id="440" r:id="rId15"/>
    <p:sldId id="443" r:id="rId16"/>
    <p:sldId id="444" r:id="rId17"/>
    <p:sldId id="446" r:id="rId18"/>
    <p:sldId id="447" r:id="rId19"/>
    <p:sldId id="448" r:id="rId20"/>
    <p:sldId id="449" r:id="rId21"/>
    <p:sldId id="450" r:id="rId22"/>
    <p:sldId id="451" r:id="rId23"/>
    <p:sldId id="360" r:id="rId2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1" d="100"/>
          <a:sy n="91" d="100"/>
        </p:scale>
        <p:origin x="-3804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B8596-08BC-4835-A7A7-558BAD895013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3FAFC3-F822-460C-B3D9-971640FD25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484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253D3-C2F7-4B9C-A5A7-162FCA56A06B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sb-DE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253D3-C2F7-4B9C-A5A7-162FCA56A06B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557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-24"/>
            <a:ext cx="5614998" cy="714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857232"/>
            <a:ext cx="8229600" cy="5429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7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2400" b="1" kern="1200">
          <a:solidFill>
            <a:schemeClr val="tx1"/>
          </a:solidFill>
          <a:latin typeface="나눔스퀘어라운드 ExtraBold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yencarnacion.github.io/eddystone-url-calculator/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67544" y="1000108"/>
            <a:ext cx="81369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ch</a:t>
            </a:r>
            <a:r>
              <a:rPr lang="en-US" altLang="ko-KR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08 </a:t>
            </a:r>
            <a:r>
              <a:rPr lang="ko-KR" altLang="en-US" sz="40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블루투스</a:t>
            </a:r>
            <a:r>
              <a:rPr lang="ko-KR" altLang="en-US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ko-KR" altLang="en-US" sz="40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비콘</a:t>
            </a:r>
            <a:r>
              <a:rPr lang="en-US" altLang="ko-KR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(Beacon)</a:t>
            </a:r>
            <a:r>
              <a:rPr lang="ko-KR" altLang="en-US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endParaRPr lang="en-US" altLang="ko-KR" sz="4000" b="1" dirty="0" smtClean="0">
              <a:latin typeface="나눔스퀘어라운드 ExtraBold" pitchFamily="50" charset="-127"/>
              <a:ea typeface="나눔스퀘어라운드 ExtraBold" pitchFamily="50" charset="-127"/>
            </a:endParaRPr>
          </a:p>
          <a:p>
            <a:pPr algn="ctr"/>
            <a:r>
              <a:rPr lang="ko-KR" altLang="en-US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사용하기</a:t>
            </a:r>
            <a:endParaRPr lang="ko-KR" altLang="en-US" sz="40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5663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83"/>
          <p:cNvGrpSpPr>
            <a:grpSpLocks/>
          </p:cNvGrpSpPr>
          <p:nvPr/>
        </p:nvGrpSpPr>
        <p:grpSpPr bwMode="auto">
          <a:xfrm>
            <a:off x="285720" y="857232"/>
            <a:ext cx="4724400" cy="685800"/>
            <a:chOff x="1296" y="1824"/>
            <a:chExt cx="2976" cy="432"/>
          </a:xfrm>
        </p:grpSpPr>
        <p:sp>
          <p:nvSpPr>
            <p:cNvPr id="90196" name="AutoShape 84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90197" name="AutoShape 85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tx2">
                <a:lumMod val="75000"/>
              </a:schemeClr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90198" name="Text Box 86"/>
            <p:cNvSpPr txBox="1">
              <a:spLocks noChangeArrowheads="1"/>
            </p:cNvSpPr>
            <p:nvPr/>
          </p:nvSpPr>
          <p:spPr bwMode="gray">
            <a:xfrm>
              <a:off x="1680" y="1934"/>
              <a:ext cx="2160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>
              <a:spAutoFit/>
            </a:bodyPr>
            <a:lstStyle/>
            <a:p>
              <a:pPr algn="ctr" eaLnBrk="0" hangingPunct="0"/>
              <a:r>
                <a:rPr lang="ko-KR" altLang="en-US" b="1" dirty="0" smtClean="0">
                  <a:solidFill>
                    <a:schemeClr val="bg1"/>
                  </a:solidFill>
                  <a:ea typeface="굴림" charset="-127"/>
                </a:rPr>
                <a:t>학습목표</a:t>
              </a:r>
              <a:endParaRPr lang="en-US" altLang="ko-KR" b="1" dirty="0">
                <a:solidFill>
                  <a:schemeClr val="bg1"/>
                </a:solidFill>
                <a:ea typeface="굴림" charset="-127"/>
              </a:endParaRPr>
            </a:p>
          </p:txBody>
        </p:sp>
        <p:sp>
          <p:nvSpPr>
            <p:cNvPr id="90199" name="Text Box 87"/>
            <p:cNvSpPr txBox="1">
              <a:spLocks noChangeArrowheads="1"/>
            </p:cNvSpPr>
            <p:nvPr/>
          </p:nvSpPr>
          <p:spPr bwMode="gray">
            <a:xfrm>
              <a:off x="1393" y="1886"/>
              <a:ext cx="116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>
              <a:spAutoFit/>
            </a:bodyPr>
            <a:lstStyle/>
            <a:p>
              <a:pPr algn="ctr" eaLnBrk="0" hangingPunct="0"/>
              <a:endParaRPr lang="en-US" altLang="ko-KR" sz="2400" dirty="0">
                <a:solidFill>
                  <a:schemeClr val="bg1"/>
                </a:solidFill>
                <a:ea typeface="굴림" charset="-127"/>
              </a:endParaRPr>
            </a:p>
          </p:txBody>
        </p:sp>
      </p:grpSp>
      <p:grpSp>
        <p:nvGrpSpPr>
          <p:cNvPr id="4" name="Group 88"/>
          <p:cNvGrpSpPr>
            <a:grpSpLocks/>
          </p:cNvGrpSpPr>
          <p:nvPr/>
        </p:nvGrpSpPr>
        <p:grpSpPr bwMode="auto">
          <a:xfrm>
            <a:off x="285720" y="3028952"/>
            <a:ext cx="4724400" cy="685800"/>
            <a:chOff x="1296" y="1824"/>
            <a:chExt cx="2976" cy="432"/>
          </a:xfrm>
        </p:grpSpPr>
        <p:sp>
          <p:nvSpPr>
            <p:cNvPr id="90201" name="AutoShape 89"/>
            <p:cNvSpPr>
              <a:spLocks noChangeArrowheads="1"/>
            </p:cNvSpPr>
            <p:nvPr/>
          </p:nvSpPr>
          <p:spPr bwMode="gray">
            <a:xfrm>
              <a:off x="1536" y="186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90202" name="AutoShape 90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90203" name="Text Box 91"/>
            <p:cNvSpPr txBox="1">
              <a:spLocks noChangeArrowheads="1"/>
            </p:cNvSpPr>
            <p:nvPr/>
          </p:nvSpPr>
          <p:spPr bwMode="gray">
            <a:xfrm>
              <a:off x="1680" y="1896"/>
              <a:ext cx="2160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>
              <a:spAutoFit/>
            </a:bodyPr>
            <a:lstStyle/>
            <a:p>
              <a:pPr algn="ctr" eaLnBrk="0" hangingPunct="0"/>
              <a:r>
                <a:rPr lang="ko-KR" altLang="en-US" b="1" dirty="0" smtClean="0">
                  <a:solidFill>
                    <a:schemeClr val="bg1"/>
                  </a:solidFill>
                  <a:ea typeface="굴림" charset="-127"/>
                </a:rPr>
                <a:t>학습내용</a:t>
              </a:r>
              <a:endParaRPr lang="en-US" altLang="ko-KR" b="1" dirty="0">
                <a:solidFill>
                  <a:schemeClr val="bg1"/>
                </a:solidFill>
                <a:ea typeface="굴림" charset="-127"/>
              </a:endParaRPr>
            </a:p>
          </p:txBody>
        </p:sp>
        <p:sp>
          <p:nvSpPr>
            <p:cNvPr id="90204" name="Text Box 92"/>
            <p:cNvSpPr txBox="1">
              <a:spLocks noChangeArrowheads="1"/>
            </p:cNvSpPr>
            <p:nvPr/>
          </p:nvSpPr>
          <p:spPr bwMode="gray">
            <a:xfrm>
              <a:off x="1393" y="1886"/>
              <a:ext cx="116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>
              <a:spAutoFit/>
            </a:bodyPr>
            <a:lstStyle/>
            <a:p>
              <a:pPr algn="ctr" eaLnBrk="0" hangingPunct="0"/>
              <a:endParaRPr lang="en-US" altLang="ko-KR" sz="2400" dirty="0">
                <a:solidFill>
                  <a:schemeClr val="bg1"/>
                </a:solidFill>
                <a:ea typeface="굴림" charset="-127"/>
              </a:endParaRPr>
            </a:p>
          </p:txBody>
        </p:sp>
      </p:grpSp>
      <p:sp>
        <p:nvSpPr>
          <p:cNvPr id="17" name="제목 1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b="1" smtClean="0">
                <a:latin typeface="나눔스퀘어라운드 ExtraBold"/>
              </a:rPr>
              <a:t>Contents</a:t>
            </a:r>
            <a:endParaRPr lang="ko-KR" altLang="en-US" sz="2400" b="1">
              <a:latin typeface="나눔스퀘어라운드 ExtraBold"/>
            </a:endParaRPr>
          </a:p>
        </p:txBody>
      </p:sp>
      <p:sp>
        <p:nvSpPr>
          <p:cNvPr id="24" name="바닥글 개체 틀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JSPStudy.co.kr</a:t>
            </a:r>
            <a:endParaRPr lang="en-US" altLang="ko-KR" dirty="0"/>
          </a:p>
        </p:txBody>
      </p:sp>
      <p:sp>
        <p:nvSpPr>
          <p:cNvPr id="25" name="Rectangle 3"/>
          <p:cNvSpPr txBox="1">
            <a:spLocks noChangeArrowheads="1"/>
          </p:cNvSpPr>
          <p:nvPr/>
        </p:nvSpPr>
        <p:spPr bwMode="auto">
          <a:xfrm>
            <a:off x="357158" y="1785926"/>
            <a:ext cx="8786842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latinLnBrk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</a:pPr>
            <a:r>
              <a:rPr lang="ko-KR" altLang="en-US" smtClean="0">
                <a:latin typeface="나눔스퀘어 Bold"/>
              </a:rPr>
              <a:t>라즈베리파이의 블루투스 기능으로 비콘</a:t>
            </a:r>
            <a:r>
              <a:rPr lang="en-US" altLang="ko-KR" smtClean="0">
                <a:latin typeface="나눔스퀘어 Bold"/>
              </a:rPr>
              <a:t>(Beacon)</a:t>
            </a:r>
            <a:r>
              <a:rPr lang="ko-KR" altLang="en-US" smtClean="0">
                <a:latin typeface="나눔스퀘어 Bold"/>
              </a:rPr>
              <a:t>처럼 사용하기</a:t>
            </a:r>
            <a:endParaRPr lang="en-US" altLang="ko-KR" smtClean="0">
              <a:latin typeface="나눔스퀘어 Bold"/>
            </a:endParaRPr>
          </a:p>
          <a:p>
            <a:pPr marL="342900" indent="-342900" latinLnBrk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</a:pPr>
            <a:r>
              <a:rPr lang="ko-KR" altLang="en-US" smtClean="0">
                <a:latin typeface="나눔스퀘어 Bold"/>
              </a:rPr>
              <a:t>비콘의 기능을 활용해 라즈베리파이의 웹서버로 접속해서 </a:t>
            </a:r>
            <a:r>
              <a:rPr lang="en-US" altLang="ko-KR" smtClean="0">
                <a:latin typeface="나눔스퀘어 Bold"/>
              </a:rPr>
              <a:t>GPIO </a:t>
            </a:r>
            <a:r>
              <a:rPr lang="ko-KR" altLang="en-US" smtClean="0">
                <a:latin typeface="나눔스퀘어 Bold"/>
              </a:rPr>
              <a:t>제어하기</a:t>
            </a:r>
            <a:endParaRPr lang="en-US" altLang="ko-KR" dirty="0" smtClean="0">
              <a:latin typeface="나눔스퀘어 Bold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428596" y="4000528"/>
            <a:ext cx="7072362" cy="171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ko-KR" altLang="en-US" smtClean="0"/>
              <a:t>블루투스</a:t>
            </a:r>
            <a:r>
              <a:rPr lang="en-US" altLang="ko-KR" smtClean="0"/>
              <a:t>(</a:t>
            </a:r>
            <a:r>
              <a:rPr lang="en-US" smtClean="0"/>
              <a:t>Bluetooth)</a:t>
            </a:r>
            <a:r>
              <a:rPr lang="ko-KR" altLang="en-US" smtClean="0"/>
              <a:t>와 비콘</a:t>
            </a:r>
            <a:r>
              <a:rPr lang="en-US" altLang="ko-KR" smtClean="0"/>
              <a:t>(</a:t>
            </a:r>
            <a:r>
              <a:rPr lang="en-US" smtClean="0"/>
              <a:t>Beacon) </a:t>
            </a:r>
            <a:r>
              <a:rPr lang="ko-KR" altLang="en-US" smtClean="0"/>
              <a:t>이란</a:t>
            </a:r>
            <a:r>
              <a:rPr lang="en-US" altLang="ko-KR" smtClean="0"/>
              <a:t>?</a:t>
            </a:r>
            <a:endParaRPr lang="en-US" altLang="ko-KR" kern="0" smtClean="0">
              <a:latin typeface="나눔스퀘어 Bold"/>
            </a:endParaRPr>
          </a:p>
          <a:p>
            <a:pPr marL="342900" lvl="0" indent="-3429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ko-KR" altLang="en-US" smtClean="0"/>
              <a:t>비콘</a:t>
            </a:r>
            <a:r>
              <a:rPr lang="en-US" altLang="ko-KR" smtClean="0"/>
              <a:t>(</a:t>
            </a:r>
            <a:r>
              <a:rPr lang="en-US" smtClean="0"/>
              <a:t>Beacon) </a:t>
            </a:r>
            <a:r>
              <a:rPr lang="ko-KR" altLang="en-US" smtClean="0"/>
              <a:t>이란</a:t>
            </a:r>
            <a:r>
              <a:rPr lang="en-US" altLang="ko-KR" smtClean="0"/>
              <a:t>?</a:t>
            </a:r>
          </a:p>
          <a:p>
            <a:pPr marL="342900" lvl="0" indent="-3429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ko-KR" altLang="en-US" smtClean="0"/>
              <a:t>라즈베리 파이 </a:t>
            </a:r>
            <a:r>
              <a:rPr lang="en-US" altLang="ko-KR" smtClean="0"/>
              <a:t>4</a:t>
            </a:r>
            <a:r>
              <a:rPr lang="ko-KR" altLang="en-US" smtClean="0"/>
              <a:t>를 블루투스 비콘으로 바꾸기</a:t>
            </a:r>
            <a:endParaRPr lang="en-US" altLang="ko-K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1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블루투스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(Bluetoth)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와 비콘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(Beacon)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이란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?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2876" y="3201131"/>
            <a:ext cx="78581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mtClean="0"/>
              <a:t> </a:t>
            </a:r>
            <a:r>
              <a:rPr lang="ko-KR" altLang="en-US" smtClean="0"/>
              <a:t>근거리 무선 통신 기술의 표준</a:t>
            </a:r>
            <a:endParaRPr lang="en-US" altLang="ko-KR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mtClean="0">
                <a:latin typeface="나눔스퀘어 Bold"/>
              </a:rPr>
              <a:t> </a:t>
            </a:r>
            <a:r>
              <a:rPr lang="ko-KR" altLang="en-US" smtClean="0">
                <a:latin typeface="나눔스퀘어 Bold"/>
              </a:rPr>
              <a:t>수 미터에서 수십미터 정도의 거리에서 정보 교환 용도로 사용</a:t>
            </a:r>
            <a:endParaRPr lang="en-US" altLang="ko-KR" smtClean="0">
              <a:latin typeface="나눔스퀘어 Bold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mtClean="0">
                <a:latin typeface="나눔스퀘어 Bold"/>
              </a:rPr>
              <a:t> 1994</a:t>
            </a:r>
            <a:r>
              <a:rPr lang="ko-KR" altLang="en-US" smtClean="0">
                <a:latin typeface="나눔스퀘어 Bold"/>
              </a:rPr>
              <a:t>년 스웨덴의 통신 장비 회사인 에릭슨이 최초로 개발</a:t>
            </a:r>
            <a:endParaRPr lang="en-US" altLang="ko-KR" smtClean="0">
              <a:latin typeface="나눔스퀘어 Bold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mtClean="0">
                <a:latin typeface="나눔스퀘어 Bold"/>
              </a:rPr>
              <a:t> </a:t>
            </a:r>
            <a:r>
              <a:rPr lang="ko-KR" altLang="en-US" smtClean="0">
                <a:latin typeface="나눔스퀘어 Bold"/>
              </a:rPr>
              <a:t>초기의 블루투스는 케이블 통신인 </a:t>
            </a:r>
            <a:r>
              <a:rPr lang="en-US" altLang="ko-KR" smtClean="0">
                <a:latin typeface="나눔스퀘어 Bold"/>
              </a:rPr>
              <a:t>RS-232</a:t>
            </a:r>
            <a:r>
              <a:rPr lang="ko-KR" altLang="en-US" smtClean="0">
                <a:latin typeface="나눔스퀘어 Bold"/>
              </a:rPr>
              <a:t>를 무선으로 대체하기 위함</a:t>
            </a:r>
            <a:endParaRPr lang="en-US" altLang="ko-KR" smtClean="0">
              <a:latin typeface="나눔스퀘어 Bold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mtClean="0">
                <a:latin typeface="나눔스퀘어 Bold"/>
              </a:rPr>
              <a:t> 2.4 ~ 2.485 GHz </a:t>
            </a:r>
            <a:r>
              <a:rPr lang="ko-KR" altLang="en-US" smtClean="0">
                <a:latin typeface="나눔스퀘어 Bold"/>
              </a:rPr>
              <a:t>주파수 대역을 사용</a:t>
            </a:r>
            <a:endParaRPr lang="en-US" altLang="ko-KR" smtClean="0">
              <a:latin typeface="나눔스퀘어 Bold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mtClean="0">
                <a:latin typeface="나눔스퀘어 Bold"/>
              </a:rPr>
              <a:t> </a:t>
            </a:r>
            <a:r>
              <a:rPr lang="ko-KR" altLang="en-US" smtClean="0">
                <a:latin typeface="나눔스퀘어 Bold"/>
              </a:rPr>
              <a:t>와이파이와 비교해 저전력이며 더 좁은 범위의 통신에 적합</a:t>
            </a:r>
            <a:endParaRPr lang="en-US" altLang="ko-KR" smtClean="0">
              <a:latin typeface="나눔스퀘어 Bold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857232"/>
            <a:ext cx="458152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1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블루투스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(Bluetoth)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와 비콘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(Beacon)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이란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?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854496"/>
            <a:ext cx="3643338" cy="2163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714612" y="1571612"/>
            <a:ext cx="5286412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1400" smtClean="0">
                <a:latin typeface="나눔스퀘어"/>
              </a:rPr>
              <a:t> 블루투스의 로고는 북유럽의 룬 문자로 </a:t>
            </a:r>
            <a:r>
              <a:rPr lang="en-US" altLang="ko-KR" sz="1400" smtClean="0">
                <a:latin typeface="나눔스퀘어"/>
              </a:rPr>
              <a:t>10</a:t>
            </a:r>
            <a:r>
              <a:rPr lang="ko-KR" altLang="en-US" sz="1400" smtClean="0">
                <a:latin typeface="나눔스퀘어"/>
              </a:rPr>
              <a:t>세기경 처음으로 덴마크와 노르웨이를 통일한 하랄드 블 라톤 국왕의 이름의 앞글자 </a:t>
            </a:r>
            <a:r>
              <a:rPr lang="en-US" altLang="ko-KR" sz="1400" smtClean="0">
                <a:latin typeface="나눔스퀘어"/>
              </a:rPr>
              <a:t>'</a:t>
            </a:r>
            <a:r>
              <a:rPr lang="en-US" sz="1400" smtClean="0">
                <a:latin typeface="나눔스퀘어"/>
              </a:rPr>
              <a:t>H' </a:t>
            </a:r>
            <a:r>
              <a:rPr lang="ko-KR" altLang="en-US" sz="1400" smtClean="0">
                <a:latin typeface="나눔스퀘어"/>
              </a:rPr>
              <a:t>와 </a:t>
            </a:r>
            <a:r>
              <a:rPr lang="en-US" altLang="ko-KR" sz="1400" smtClean="0">
                <a:latin typeface="나눔스퀘어"/>
              </a:rPr>
              <a:t>'</a:t>
            </a:r>
            <a:r>
              <a:rPr lang="en-US" sz="1400" smtClean="0">
                <a:latin typeface="나눔스퀘어"/>
              </a:rPr>
              <a:t>B'</a:t>
            </a:r>
            <a:r>
              <a:rPr lang="ko-KR" altLang="en-US" sz="1400" smtClean="0">
                <a:latin typeface="나눔스퀘어"/>
              </a:rPr>
              <a:t>를 따서 해당하는 룬 문자를 결합한 모양에서 유래</a:t>
            </a:r>
            <a:endParaRPr lang="ko-KR" altLang="en-US" sz="1400">
              <a:latin typeface="나눔스퀘어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7753" y="3143248"/>
            <a:ext cx="4731437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4929190" y="4500570"/>
            <a:ext cx="650085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1400" smtClean="0">
                <a:latin typeface="나눔스퀘어"/>
              </a:rPr>
              <a:t> </a:t>
            </a:r>
            <a:r>
              <a:rPr lang="ko-KR" altLang="en-US" sz="1400" b="1" smtClean="0"/>
              <a:t>블루투스</a:t>
            </a:r>
            <a:r>
              <a:rPr lang="ko-KR" altLang="en-US" sz="1400" smtClean="0"/>
              <a:t> </a:t>
            </a:r>
            <a:r>
              <a:rPr lang="en-US" sz="1400" smtClean="0"/>
              <a:t>: </a:t>
            </a:r>
            <a:r>
              <a:rPr lang="ko-KR" altLang="en-US" sz="1400" smtClean="0"/>
              <a:t>일반적인 기존의 블루투스 지원 기기 </a:t>
            </a:r>
            <a:endParaRPr lang="en-US" altLang="ko-KR" sz="140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z="1400" smtClean="0"/>
              <a:t> </a:t>
            </a:r>
            <a:r>
              <a:rPr lang="ko-KR" altLang="en-US" sz="1400" b="1" smtClean="0"/>
              <a:t>블루투스 스마트</a:t>
            </a:r>
            <a:r>
              <a:rPr lang="en-US" sz="1400" smtClean="0"/>
              <a:t>: BLE </a:t>
            </a:r>
            <a:r>
              <a:rPr lang="ko-KR" altLang="en-US" sz="1400" smtClean="0"/>
              <a:t>기기만 지원 </a:t>
            </a:r>
            <a:r>
              <a:rPr lang="en-US" altLang="ko-KR" sz="1400" smtClean="0"/>
              <a:t>(</a:t>
            </a:r>
            <a:r>
              <a:rPr lang="ko-KR" altLang="en-US" sz="1400" smtClean="0"/>
              <a:t>싱글모드</a:t>
            </a:r>
            <a:r>
              <a:rPr lang="en-US" altLang="ko-KR" sz="1400" smtClean="0"/>
              <a:t>)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1400" smtClean="0"/>
              <a:t> </a:t>
            </a:r>
            <a:r>
              <a:rPr lang="ko-KR" altLang="en-US" sz="1400" b="1" smtClean="0"/>
              <a:t>블루투스 스마트 레디</a:t>
            </a:r>
            <a:r>
              <a:rPr lang="en-US" sz="1400" smtClean="0"/>
              <a:t>: </a:t>
            </a:r>
            <a:r>
              <a:rPr lang="ko-KR" altLang="en-US" sz="1400" smtClean="0"/>
              <a:t>둘 다 사용가능</a:t>
            </a:r>
            <a:r>
              <a:rPr lang="en-US" altLang="ko-KR" sz="1400" smtClean="0"/>
              <a:t>(</a:t>
            </a:r>
            <a:r>
              <a:rPr lang="ko-KR" altLang="en-US" sz="1400" smtClean="0"/>
              <a:t>듀얼모드</a:t>
            </a:r>
            <a:r>
              <a:rPr lang="en-US" altLang="ko-KR" sz="1400" smtClean="0"/>
              <a:t>)</a:t>
            </a:r>
            <a:endParaRPr lang="ko-KR" altLang="en-US" sz="1400">
              <a:latin typeface="나눔스퀘어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29190" y="3761906"/>
            <a:ext cx="41433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z="1400" smtClean="0"/>
              <a:t> </a:t>
            </a:r>
            <a:r>
              <a:rPr lang="en-US" altLang="ko-KR" sz="1400" b="1" smtClean="0"/>
              <a:t>BLE </a:t>
            </a:r>
            <a:r>
              <a:rPr lang="en-US" altLang="ko-KR" sz="1400" smtClean="0"/>
              <a:t>=&gt; </a:t>
            </a:r>
            <a:r>
              <a:rPr lang="ko-KR" altLang="en-US" sz="1400" smtClean="0"/>
              <a:t>기존의 블루투스보다 전력 소모가 적고 저용량 데이터를 처리하기에 맞도록 설계</a:t>
            </a:r>
            <a:endParaRPr lang="ko-KR" altLang="en-US" sz="1400">
              <a:latin typeface="나눔스퀘어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84394" y="5786455"/>
            <a:ext cx="7459606" cy="107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1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블루투스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(Bluetoth)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와 비콘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(Beacon)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이란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?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295" y="785795"/>
            <a:ext cx="7796853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42844" y="4357694"/>
            <a:ext cx="8072494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1400" smtClean="0">
                <a:latin typeface="나눔스퀘어"/>
              </a:rPr>
              <a:t> 블루투스의 주파수는 </a:t>
            </a:r>
            <a:r>
              <a:rPr lang="en-US" sz="1400" smtClean="0">
                <a:latin typeface="나눔스퀘어"/>
              </a:rPr>
              <a:t>WIFI </a:t>
            </a:r>
            <a:r>
              <a:rPr lang="ko-KR" altLang="en-US" sz="1400" smtClean="0">
                <a:latin typeface="나눔스퀘어"/>
              </a:rPr>
              <a:t>통신과 동일한 </a:t>
            </a:r>
            <a:r>
              <a:rPr lang="en-US" altLang="ko-KR" sz="1400" smtClean="0">
                <a:latin typeface="나눔스퀘어"/>
              </a:rPr>
              <a:t>2.4</a:t>
            </a:r>
            <a:r>
              <a:rPr lang="en-US" sz="1400" smtClean="0">
                <a:latin typeface="나눔스퀘어"/>
              </a:rPr>
              <a:t>Ghz </a:t>
            </a:r>
            <a:r>
              <a:rPr lang="ko-KR" altLang="en-US" sz="1400" smtClean="0">
                <a:latin typeface="나눔스퀘어"/>
              </a:rPr>
              <a:t>대역을 사용합니다</a:t>
            </a:r>
            <a:r>
              <a:rPr lang="en-US" altLang="ko-KR" sz="1400" smtClean="0">
                <a:latin typeface="나눔스퀘어"/>
              </a:rPr>
              <a:t>. </a:t>
            </a:r>
            <a:r>
              <a:rPr lang="ko-KR" altLang="en-US" sz="1400" smtClean="0">
                <a:latin typeface="나눔스퀘어"/>
              </a:rPr>
              <a:t>따라서 동일한 주파수를 사 용하는 다른 장치 또는 블루투스 간에 간섭현상이 생길 수 있습니다</a:t>
            </a:r>
            <a:r>
              <a:rPr lang="en-US" altLang="ko-KR" sz="1400" smtClean="0">
                <a:latin typeface="나눔스퀘어"/>
              </a:rPr>
              <a:t>. </a:t>
            </a:r>
            <a:r>
              <a:rPr lang="ko-KR" altLang="en-US" sz="1400" smtClean="0">
                <a:latin typeface="나눔스퀘어"/>
              </a:rPr>
              <a:t>블루투스는 페어링 이후에 무 선통신 상황에 따라 주파수를 일정간격으로 </a:t>
            </a:r>
            <a:r>
              <a:rPr lang="en-US" altLang="ko-KR" sz="1400" smtClean="0">
                <a:latin typeface="나눔스퀘어"/>
              </a:rPr>
              <a:t>(</a:t>
            </a:r>
            <a:r>
              <a:rPr lang="ko-KR" altLang="en-US" sz="1400" smtClean="0">
                <a:latin typeface="나눔스퀘어"/>
              </a:rPr>
              <a:t>클래식 블루투스 </a:t>
            </a:r>
            <a:r>
              <a:rPr lang="en-US" altLang="ko-KR" sz="1400" smtClean="0">
                <a:latin typeface="나눔스퀘어"/>
              </a:rPr>
              <a:t>1</a:t>
            </a:r>
            <a:r>
              <a:rPr lang="en-US" sz="1400" smtClean="0">
                <a:latin typeface="나눔스퀘어"/>
              </a:rPr>
              <a:t>Mhz , BLE 2Mhz) </a:t>
            </a:r>
            <a:r>
              <a:rPr lang="ko-KR" altLang="en-US" sz="1400" smtClean="0">
                <a:latin typeface="나눔스퀘어"/>
              </a:rPr>
              <a:t>건너뛰어 다른 채 널의 주파수로 통신 하는데 이를 호핑</a:t>
            </a:r>
            <a:r>
              <a:rPr lang="en-US" altLang="ko-KR" sz="1400" smtClean="0">
                <a:latin typeface="나눔스퀘어"/>
              </a:rPr>
              <a:t>(</a:t>
            </a:r>
            <a:r>
              <a:rPr lang="en-US" sz="1400" smtClean="0">
                <a:latin typeface="나눔스퀘어"/>
              </a:rPr>
              <a:t>Hopping) </a:t>
            </a:r>
            <a:r>
              <a:rPr lang="ko-KR" altLang="en-US" sz="1400" smtClean="0">
                <a:latin typeface="나눔스퀘어"/>
              </a:rPr>
              <a:t>기술이라고 합니다</a:t>
            </a:r>
            <a:r>
              <a:rPr lang="en-US" altLang="ko-KR" sz="1400" smtClean="0">
                <a:latin typeface="나눔스퀘어"/>
              </a:rPr>
              <a:t>.</a:t>
            </a:r>
            <a:endParaRPr lang="ko-KR" altLang="en-US" sz="1400">
              <a:latin typeface="나눔스퀘어"/>
            </a:endParaRPr>
          </a:p>
        </p:txBody>
      </p:sp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1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블루투스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(Bluetoth)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와 비콘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(Beacon)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이란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?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85794"/>
            <a:ext cx="3143272" cy="504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428596" y="1345156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latin typeface="나눔스퀘어 Bold"/>
              </a:rPr>
              <a:t>❶ </a:t>
            </a:r>
            <a:r>
              <a:rPr lang="ko-KR" altLang="en-US" smtClean="0"/>
              <a:t>브로드캐스트 모드</a:t>
            </a:r>
            <a:endParaRPr lang="ko-KR" altLang="en-US">
              <a:latin typeface="나눔스퀘어 Bold"/>
            </a:endParaRPr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1785926"/>
            <a:ext cx="5215804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285720" y="5429264"/>
            <a:ext cx="82153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mtClean="0">
                <a:latin typeface="나눔스퀘어 Bold"/>
              </a:rPr>
              <a:t> </a:t>
            </a:r>
            <a:r>
              <a:rPr lang="ko-KR" altLang="en-US" smtClean="0"/>
              <a:t>브로드캐스트 모드는 일정한 주기로 주변의 모든 디바이스에게 일방적으로</a:t>
            </a:r>
            <a:r>
              <a:rPr lang="en-US" altLang="ko-KR" smtClean="0"/>
              <a:t>(</a:t>
            </a:r>
            <a:r>
              <a:rPr lang="ko-KR" altLang="en-US" smtClean="0"/>
              <a:t>한 방향 통신</a:t>
            </a:r>
            <a:r>
              <a:rPr lang="en-US" altLang="ko-KR" smtClean="0"/>
              <a:t>) </a:t>
            </a:r>
            <a:r>
              <a:rPr lang="ko-KR" altLang="en-US" smtClean="0"/>
              <a:t>데이터를 보내는 모드</a:t>
            </a:r>
            <a:r>
              <a:rPr lang="en-US" altLang="ko-KR" smtClean="0"/>
              <a:t> </a:t>
            </a:r>
          </a:p>
          <a:p>
            <a:pPr>
              <a:buFont typeface="Wingdings" pitchFamily="2" charset="2"/>
              <a:buChar char="Ø"/>
            </a:pPr>
            <a:endParaRPr lang="en-US" altLang="ko-KR" smtClean="0"/>
          </a:p>
          <a:p>
            <a:pPr>
              <a:buFont typeface="Wingdings" pitchFamily="2" charset="2"/>
              <a:buChar char="Ø"/>
            </a:pPr>
            <a:r>
              <a:rPr lang="ko-KR" altLang="en-US" smtClean="0"/>
              <a:t>주기적으로 소량의 데이터를 여러 기기에 전달해야 하는 경우에 적합</a:t>
            </a:r>
            <a:endParaRPr lang="ko-KR" altLang="en-US">
              <a:latin typeface="나눔스퀘어 Bold"/>
            </a:endParaRPr>
          </a:p>
        </p:txBody>
      </p:sp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1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블루투스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(Bluetoth)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와 비콘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(Beacon)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이란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?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2394" y="857232"/>
            <a:ext cx="2795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❷ </a:t>
            </a:r>
            <a:r>
              <a:rPr lang="ko-KR" altLang="en-US" smtClean="0"/>
              <a:t>연결</a:t>
            </a:r>
            <a:r>
              <a:rPr lang="en-US" altLang="ko-KR" smtClean="0"/>
              <a:t>(connection)</a:t>
            </a:r>
            <a:r>
              <a:rPr lang="ko-KR" altLang="en-US" smtClean="0"/>
              <a:t> 모드</a:t>
            </a:r>
            <a:endParaRPr lang="ko-KR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428736"/>
            <a:ext cx="4876800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71472" y="3292476"/>
            <a:ext cx="700092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1400" smtClean="0">
                <a:latin typeface="나눔스퀘어"/>
              </a:rPr>
              <a:t> 브로드캐스트 모드와는 달리 양방향으로 데이터를 주고받거나 데이터 패킷으로만 전달하기에는 많은 양의 데이터를 주고받아야 하는 경우에는 연결 모드로 통신을 합니다</a:t>
            </a:r>
            <a:r>
              <a:rPr lang="en-US" altLang="ko-KR" sz="1400" smtClean="0">
                <a:latin typeface="나눔스퀘어"/>
              </a:rPr>
              <a:t>.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altLang="ko-KR" sz="1400" smtClean="0">
              <a:latin typeface="나눔스퀘어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z="1400" smtClean="0">
                <a:latin typeface="나눔스퀘어"/>
              </a:rPr>
              <a:t> ‘</a:t>
            </a:r>
            <a:r>
              <a:rPr lang="ko-KR" altLang="en-US" sz="1400" smtClean="0">
                <a:latin typeface="나눔스퀘어"/>
              </a:rPr>
              <a:t>일대 일’ 방식으로 기기들 간에 데이터 교환</a:t>
            </a:r>
            <a:endParaRPr lang="ko-KR" altLang="en-US" sz="1400">
              <a:latin typeface="나눔스퀘어"/>
            </a:endParaRPr>
          </a:p>
        </p:txBody>
      </p:sp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2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비콘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(Beacon)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이란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?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2394" y="1370002"/>
            <a:ext cx="76671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mtClean="0"/>
              <a:t> 근거리에 있는 스마트 기기를 자동으로 인식하여 필요한 데이터를 전송할 수 있는 무선 통신 장치</a:t>
            </a:r>
            <a:endParaRPr lang="en-US" altLang="ko-KR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mtClean="0"/>
              <a:t> </a:t>
            </a:r>
            <a:r>
              <a:rPr lang="ko-KR" altLang="en-US" smtClean="0"/>
              <a:t>최대 </a:t>
            </a:r>
            <a:r>
              <a:rPr lang="en-US" altLang="ko-KR" smtClean="0"/>
              <a:t>50m </a:t>
            </a:r>
            <a:r>
              <a:rPr lang="ko-KR" altLang="en-US" smtClean="0"/>
              <a:t>거리까지 동작가능</a:t>
            </a:r>
            <a:endParaRPr lang="en-US" altLang="ko-KR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mtClean="0"/>
              <a:t> </a:t>
            </a:r>
            <a:r>
              <a:rPr lang="ko-KR" altLang="en-US" smtClean="0"/>
              <a:t>전원이 없이 배터리만으로 설치</a:t>
            </a:r>
            <a:endParaRPr lang="en-US" altLang="ko-KR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mtClean="0"/>
              <a:t> </a:t>
            </a:r>
            <a:r>
              <a:rPr lang="ko-KR" altLang="en-US" smtClean="0"/>
              <a:t>제품의 수명은 비콘의 사용 조건 및 설계에 따라 다름</a:t>
            </a:r>
            <a:endParaRPr lang="en-US" altLang="ko-KR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mtClean="0"/>
              <a:t> UUID</a:t>
            </a:r>
            <a:r>
              <a:rPr lang="ko-KR" altLang="en-US" smtClean="0"/>
              <a:t>가 포함된 정보 패킷을 광고의 목적으로 사용가능</a:t>
            </a:r>
            <a:endParaRPr lang="en-US" altLang="ko-KR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mtClean="0"/>
              <a:t> RSSI </a:t>
            </a:r>
            <a:r>
              <a:rPr lang="ko-KR" altLang="en-US" smtClean="0"/>
              <a:t>값을 사용하여 비콘의 출력세기와 신호강도로 비콘과 단말기</a:t>
            </a: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ko-KR" altLang="en-US" smtClean="0"/>
              <a:t>사이의 거리를 측정가능 </a:t>
            </a:r>
            <a:r>
              <a:rPr lang="en-US" altLang="ko-KR" smtClean="0"/>
              <a:t>( </a:t>
            </a:r>
            <a:r>
              <a:rPr lang="ko-KR" altLang="en-US" smtClean="0"/>
              <a:t>근사값으로 오차 발생 </a:t>
            </a:r>
            <a:r>
              <a:rPr lang="en-US" altLang="ko-KR" smtClean="0"/>
              <a:t>)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62394" y="85723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/>
              <a:t>비콘의 특징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2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비콘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(Beacon)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이란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?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857233"/>
            <a:ext cx="4362821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71473" y="4357694"/>
            <a:ext cx="692948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1400" smtClean="0">
                <a:latin typeface="나눔스퀘어"/>
              </a:rPr>
              <a:t> 아이비콘은 </a:t>
            </a:r>
            <a:r>
              <a:rPr lang="en-US" altLang="ko-KR" sz="1400" smtClean="0">
                <a:latin typeface="나눔스퀘어"/>
              </a:rPr>
              <a:t>2013</a:t>
            </a:r>
            <a:r>
              <a:rPr lang="ko-KR" altLang="en-US" sz="1400" smtClean="0">
                <a:latin typeface="나눔스퀘어"/>
              </a:rPr>
              <a:t>년에 애플이 제시한 실내 위치 확인 시스템</a:t>
            </a:r>
            <a:r>
              <a:rPr lang="en-US" altLang="ko-KR" sz="1400" smtClean="0">
                <a:latin typeface="나눔스퀘어"/>
              </a:rPr>
              <a:t>(</a:t>
            </a:r>
            <a:r>
              <a:rPr lang="en-US" sz="1400" smtClean="0">
                <a:latin typeface="나눔스퀘어"/>
              </a:rPr>
              <a:t>indoor positioning system, IPS)</a:t>
            </a:r>
            <a:r>
              <a:rPr lang="ko-KR" altLang="en-US" sz="1400" smtClean="0">
                <a:latin typeface="나눔스퀘어"/>
              </a:rPr>
              <a:t>으로</a:t>
            </a:r>
            <a:r>
              <a:rPr lang="en-US" altLang="ko-KR" sz="1400" smtClean="0">
                <a:latin typeface="나눔스퀘어"/>
              </a:rPr>
              <a:t>, </a:t>
            </a:r>
            <a:r>
              <a:rPr lang="ko-KR" altLang="en-US" sz="1400" smtClean="0">
                <a:latin typeface="나눔스퀘어"/>
              </a:rPr>
              <a:t>애플은 “근처의 </a:t>
            </a:r>
            <a:r>
              <a:rPr lang="en-US" sz="1400" smtClean="0">
                <a:latin typeface="나눔스퀘어"/>
              </a:rPr>
              <a:t>iOS </a:t>
            </a:r>
            <a:r>
              <a:rPr lang="ko-KR" altLang="en-US" sz="1400" smtClean="0">
                <a:latin typeface="나눔스퀘어"/>
              </a:rPr>
              <a:t>기기에 존재를 알릴 수 있는 새로운 차원의 저전력</a:t>
            </a:r>
            <a:r>
              <a:rPr lang="en-US" altLang="ko-KR" sz="1400" smtClean="0">
                <a:latin typeface="나눔스퀘어"/>
              </a:rPr>
              <a:t>, </a:t>
            </a:r>
            <a:r>
              <a:rPr lang="ko-KR" altLang="en-US" sz="1400" smtClean="0">
                <a:latin typeface="나눔스퀘어"/>
              </a:rPr>
              <a:t>저비용 송신기”라고 설명</a:t>
            </a:r>
            <a:endParaRPr lang="en-US" altLang="ko-KR" sz="1400" smtClean="0">
              <a:latin typeface="나눔스퀘어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1400" smtClean="0">
                <a:latin typeface="나눔스퀘어"/>
              </a:rPr>
              <a:t> 아이비콘 앱이 활성화된 단말기의 위치를 정확히 파악해서 이 단말기에 자동으로 관련 정보를 전송하는데 사용</a:t>
            </a:r>
            <a:endParaRPr lang="ko-KR" altLang="en-US" sz="1400">
              <a:latin typeface="나눔스퀘어"/>
            </a:endParaRPr>
          </a:p>
        </p:txBody>
      </p:sp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2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비콘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(Beacon)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이란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?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2394" y="857232"/>
            <a:ext cx="7667192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mtClean="0"/>
              <a:t> 데이터 패킷 </a:t>
            </a:r>
            <a:r>
              <a:rPr lang="en-US" altLang="ko-KR" smtClean="0"/>
              <a:t>( </a:t>
            </a:r>
            <a:r>
              <a:rPr lang="ko-KR" altLang="en-US" smtClean="0"/>
              <a:t>비콘이 주기적으로 보내는 데이터 </a:t>
            </a:r>
            <a:r>
              <a:rPr lang="en-US" altLang="ko-KR" smtClean="0"/>
              <a:t>)</a:t>
            </a:r>
            <a:endParaRPr lang="ko-KR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357298"/>
            <a:ext cx="7715272" cy="441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1942139"/>
            <a:ext cx="6357982" cy="210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357158" y="4143380"/>
            <a:ext cx="7667192" cy="1988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smtClean="0">
                <a:latin typeface="나눔스퀘어"/>
              </a:rPr>
              <a:t>❶ iBeacon Prefix : </a:t>
            </a:r>
            <a:r>
              <a:rPr lang="ko-KR" altLang="en-US" sz="1400" smtClean="0">
                <a:latin typeface="나눔스퀘어"/>
              </a:rPr>
              <a:t>아이비콘의 고정 고유 번호 </a:t>
            </a:r>
            <a:endParaRPr lang="en-US" altLang="ko-KR" sz="1400" smtClean="0">
              <a:latin typeface="나눔스퀘어"/>
            </a:endParaRPr>
          </a:p>
          <a:p>
            <a:pPr>
              <a:lnSpc>
                <a:spcPct val="150000"/>
              </a:lnSpc>
            </a:pPr>
            <a:r>
              <a:rPr lang="ko-KR" altLang="en-US" sz="1400" smtClean="0">
                <a:latin typeface="나눔스퀘어"/>
              </a:rPr>
              <a:t>❷ </a:t>
            </a:r>
            <a:r>
              <a:rPr lang="en-US" sz="1400" smtClean="0">
                <a:latin typeface="나눔스퀘어"/>
              </a:rPr>
              <a:t>UUID( universally unique identifier) : </a:t>
            </a:r>
            <a:r>
              <a:rPr lang="ko-KR" altLang="en-US" sz="1400" smtClean="0">
                <a:latin typeface="나눔스퀘어"/>
              </a:rPr>
              <a:t>범용 고유 식별자로 </a:t>
            </a:r>
            <a:r>
              <a:rPr lang="en-US" sz="1400" smtClean="0">
                <a:latin typeface="나눔스퀘어"/>
              </a:rPr>
              <a:t>Major </a:t>
            </a:r>
            <a:r>
              <a:rPr lang="ko-KR" altLang="en-US" sz="1400" smtClean="0">
                <a:latin typeface="나눔스퀘어"/>
              </a:rPr>
              <a:t>와 </a:t>
            </a:r>
            <a:r>
              <a:rPr lang="en-US" sz="1400" smtClean="0">
                <a:latin typeface="나눔스퀘어"/>
              </a:rPr>
              <a:t>Minor </a:t>
            </a:r>
            <a:r>
              <a:rPr lang="ko-KR" altLang="en-US" sz="1400" smtClean="0">
                <a:latin typeface="나눔스퀘어"/>
              </a:rPr>
              <a:t>식별번호와 조합하여 특정지역과 특정그룹안의 비콘을 식별 가능 </a:t>
            </a:r>
            <a:endParaRPr lang="en-US" altLang="ko-KR" sz="1400" smtClean="0">
              <a:latin typeface="나눔스퀘어"/>
            </a:endParaRPr>
          </a:p>
          <a:p>
            <a:pPr>
              <a:lnSpc>
                <a:spcPct val="150000"/>
              </a:lnSpc>
            </a:pPr>
            <a:r>
              <a:rPr lang="ko-KR" altLang="en-US" sz="1400" smtClean="0">
                <a:latin typeface="나눔스퀘어"/>
              </a:rPr>
              <a:t>❸ </a:t>
            </a:r>
            <a:r>
              <a:rPr lang="en-US" altLang="ko-KR" sz="1400" smtClean="0">
                <a:latin typeface="나눔스퀘어"/>
              </a:rPr>
              <a:t>2 </a:t>
            </a:r>
            <a:r>
              <a:rPr lang="en-US" sz="1400" smtClean="0">
                <a:latin typeface="나눔스퀘어"/>
              </a:rPr>
              <a:t>byte</a:t>
            </a:r>
            <a:r>
              <a:rPr lang="ko-KR" altLang="en-US" sz="1400" smtClean="0">
                <a:latin typeface="나눔스퀘어"/>
              </a:rPr>
              <a:t>의 비콘 그룹을 나타내는 식별 번호 </a:t>
            </a:r>
            <a:endParaRPr lang="en-US" altLang="ko-KR" sz="1400" smtClean="0">
              <a:latin typeface="나눔스퀘어"/>
            </a:endParaRPr>
          </a:p>
          <a:p>
            <a:pPr>
              <a:lnSpc>
                <a:spcPct val="150000"/>
              </a:lnSpc>
            </a:pPr>
            <a:r>
              <a:rPr lang="ko-KR" altLang="en-US" sz="1400" smtClean="0">
                <a:latin typeface="나눔스퀘어"/>
              </a:rPr>
              <a:t>❹ </a:t>
            </a:r>
            <a:r>
              <a:rPr lang="en-US" altLang="ko-KR" sz="1400" smtClean="0">
                <a:latin typeface="나눔스퀘어"/>
              </a:rPr>
              <a:t>2 </a:t>
            </a:r>
            <a:r>
              <a:rPr lang="en-US" sz="1400" smtClean="0">
                <a:latin typeface="나눔스퀘어"/>
              </a:rPr>
              <a:t>byte</a:t>
            </a:r>
            <a:r>
              <a:rPr lang="ko-KR" altLang="en-US" sz="1400" smtClean="0">
                <a:latin typeface="나눔스퀘어"/>
              </a:rPr>
              <a:t>의 비콘 그룹 내에서 고유 비콘을 나타내는 식별 번호 </a:t>
            </a:r>
            <a:endParaRPr lang="en-US" altLang="ko-KR" sz="1400" smtClean="0">
              <a:latin typeface="나눔스퀘어"/>
            </a:endParaRPr>
          </a:p>
          <a:p>
            <a:pPr>
              <a:lnSpc>
                <a:spcPct val="150000"/>
              </a:lnSpc>
            </a:pPr>
            <a:r>
              <a:rPr lang="ko-KR" altLang="en-US" sz="1400" smtClean="0">
                <a:latin typeface="나눔스퀘어"/>
              </a:rPr>
              <a:t>❺ 통신 세기를 나타내는 신호로써 이 신호로 비콘 거리를 측정</a:t>
            </a:r>
            <a:endParaRPr lang="ko-KR" altLang="en-US" sz="1400">
              <a:latin typeface="나눔스퀘어"/>
            </a:endParaRPr>
          </a:p>
        </p:txBody>
      </p:sp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2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비콘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(Beacon)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이란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?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857232"/>
            <a:ext cx="4266528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428596" y="3929066"/>
            <a:ext cx="821537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1400" smtClean="0">
                <a:latin typeface="나눔스퀘어"/>
              </a:rPr>
              <a:t> 영국의 등대의 이름을 따서 이름지은 에디스톤은 </a:t>
            </a:r>
            <a:r>
              <a:rPr lang="en-US" altLang="ko-KR" sz="1400" smtClean="0">
                <a:latin typeface="나눔스퀘어"/>
              </a:rPr>
              <a:t>2015</a:t>
            </a:r>
            <a:r>
              <a:rPr lang="ko-KR" altLang="en-US" sz="1400" smtClean="0">
                <a:latin typeface="나눔스퀘어"/>
              </a:rPr>
              <a:t>년 구글이 직접 발표한 비콘의 표준 규격</a:t>
            </a:r>
            <a:endParaRPr lang="en-US" altLang="ko-KR" sz="1400" smtClean="0">
              <a:latin typeface="나눔스퀘어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z="1400" smtClean="0">
                <a:latin typeface="나눔스퀘어"/>
              </a:rPr>
              <a:t> </a:t>
            </a:r>
            <a:r>
              <a:rPr lang="ko-KR" altLang="en-US" sz="1400" smtClean="0">
                <a:latin typeface="나눔스퀘어"/>
              </a:rPr>
              <a:t>에디스톤은 오픈소스 형태로 </a:t>
            </a:r>
            <a:r>
              <a:rPr lang="en-US" sz="1400" smtClean="0">
                <a:latin typeface="나눔스퀘어"/>
              </a:rPr>
              <a:t>Github</a:t>
            </a:r>
            <a:r>
              <a:rPr lang="ko-KR" altLang="en-US" sz="1400" smtClean="0">
                <a:latin typeface="나눔스퀘어"/>
              </a:rPr>
              <a:t>에 공개되어 있어서 누구든지 사용가능</a:t>
            </a:r>
            <a:endParaRPr lang="en-US" altLang="ko-KR" sz="1400" smtClean="0">
              <a:latin typeface="나눔스퀘어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z="1400" smtClean="0">
                <a:latin typeface="나눔스퀘어"/>
              </a:rPr>
              <a:t> </a:t>
            </a:r>
            <a:r>
              <a:rPr lang="ko-KR" altLang="en-US" sz="1400" smtClean="0">
                <a:latin typeface="나눔스퀘어"/>
              </a:rPr>
              <a:t>안드로이드 뿐 아니라 </a:t>
            </a:r>
            <a:r>
              <a:rPr lang="en-US" sz="1400" smtClean="0">
                <a:latin typeface="나눔스퀘어"/>
              </a:rPr>
              <a:t>iOS</a:t>
            </a:r>
            <a:r>
              <a:rPr lang="ko-KR" altLang="en-US" sz="1400" smtClean="0">
                <a:latin typeface="나눔스퀘어"/>
              </a:rPr>
              <a:t>에서도 사용가능하며 </a:t>
            </a:r>
            <a:r>
              <a:rPr lang="en-US" sz="1400" smtClean="0">
                <a:latin typeface="나눔스퀘어"/>
              </a:rPr>
              <a:t>BLE</a:t>
            </a:r>
            <a:r>
              <a:rPr lang="ko-KR" altLang="en-US" sz="1400" smtClean="0">
                <a:latin typeface="나눔스퀘어"/>
              </a:rPr>
              <a:t>를 감지할 수 있는 모든 기기에 에디스톤 비콘을 적용 가능</a:t>
            </a:r>
            <a:endParaRPr lang="en-US" altLang="ko-KR" sz="1400" smtClean="0">
              <a:latin typeface="나눔스퀘어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1400" smtClean="0">
                <a:latin typeface="나눔스퀘어"/>
              </a:rPr>
              <a:t> 다양한 프레임을 지원하여 좀더 독창적인 비콘 서비스를 구현</a:t>
            </a:r>
            <a:endParaRPr lang="ko-KR" altLang="en-US" sz="1400">
              <a:latin typeface="나눔스퀘어"/>
            </a:endParaRPr>
          </a:p>
        </p:txBody>
      </p:sp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2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비콘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(Beacon)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이란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?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785794"/>
            <a:ext cx="4000528" cy="882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85720" y="1714488"/>
            <a:ext cx="2064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❶ Eddystone-UID</a:t>
            </a: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57158" y="2017570"/>
            <a:ext cx="6929486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400" smtClean="0">
                <a:latin typeface="나눔스퀘어"/>
              </a:rPr>
              <a:t> UID</a:t>
            </a:r>
            <a:r>
              <a:rPr lang="ko-KR" altLang="en-US" sz="1400" smtClean="0">
                <a:latin typeface="나눔스퀘어"/>
              </a:rPr>
              <a:t>는 </a:t>
            </a:r>
            <a:r>
              <a:rPr lang="en-US" sz="1400" smtClean="0">
                <a:latin typeface="나눔스퀘어"/>
              </a:rPr>
              <a:t>Unique identifier </a:t>
            </a:r>
            <a:r>
              <a:rPr lang="ko-KR" altLang="en-US" sz="1400" smtClean="0">
                <a:latin typeface="나눔스퀘어"/>
              </a:rPr>
              <a:t>의 약자로</a:t>
            </a:r>
            <a:r>
              <a:rPr lang="en-US" altLang="ko-KR" sz="1400" smtClean="0">
                <a:latin typeface="나눔스퀘어"/>
              </a:rPr>
              <a:t>, </a:t>
            </a:r>
            <a:r>
              <a:rPr lang="ko-KR" altLang="en-US" sz="1400" smtClean="0">
                <a:latin typeface="나눔스퀘어"/>
              </a:rPr>
              <a:t>아이비콘의 </a:t>
            </a:r>
            <a:r>
              <a:rPr lang="en-US" sz="1400" smtClean="0">
                <a:latin typeface="나눔스퀘어"/>
              </a:rPr>
              <a:t>UUID</a:t>
            </a:r>
            <a:r>
              <a:rPr lang="ko-KR" altLang="en-US" sz="1400" smtClean="0">
                <a:latin typeface="나눔스퀘어"/>
              </a:rPr>
              <a:t>와 비슷하게 설치된 앱을 실행할 때 알림을 보내는 등의 용도로 사용</a:t>
            </a:r>
            <a:endParaRPr lang="ko-KR" altLang="en-US" sz="1400">
              <a:latin typeface="나눔스퀘어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5720" y="2857496"/>
            <a:ext cx="2088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❷</a:t>
            </a:r>
            <a:r>
              <a:rPr lang="en-US" smtClean="0"/>
              <a:t> Eddystone-URL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57158" y="3160578"/>
            <a:ext cx="69294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400" smtClean="0">
                <a:latin typeface="나눔스퀘어"/>
              </a:rPr>
              <a:t> </a:t>
            </a:r>
            <a:r>
              <a:rPr lang="en-US" sz="1400" smtClean="0"/>
              <a:t>URL </a:t>
            </a:r>
            <a:r>
              <a:rPr lang="ko-KR" altLang="en-US" sz="1400" smtClean="0"/>
              <a:t>정보를 압축해서 전송하여 크롬 브라우저로 바로 행사나 정보를 확인 가능하여 효율적이고 쉽게 정보를 전달</a:t>
            </a:r>
            <a:endParaRPr lang="ko-KR" altLang="en-US" sz="1400">
              <a:latin typeface="나눔스퀘어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5720" y="4000504"/>
            <a:ext cx="2120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❸ Eddystone-TLM</a:t>
            </a: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57158" y="4303586"/>
            <a:ext cx="69294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400" smtClean="0">
                <a:latin typeface="나눔스퀘어"/>
              </a:rPr>
              <a:t> </a:t>
            </a:r>
            <a:r>
              <a:rPr lang="en-US" sz="1400" smtClean="0"/>
              <a:t>TLM</a:t>
            </a:r>
            <a:r>
              <a:rPr lang="ko-KR" altLang="en-US" sz="1400" smtClean="0"/>
              <a:t>은 원격측정</a:t>
            </a:r>
            <a:r>
              <a:rPr lang="en-US" altLang="ko-KR" sz="1400" smtClean="0"/>
              <a:t>(</a:t>
            </a:r>
            <a:r>
              <a:rPr lang="en-US" sz="1400" smtClean="0"/>
              <a:t>Telemetry)</a:t>
            </a:r>
            <a:r>
              <a:rPr lang="ko-KR" altLang="en-US" sz="1400" smtClean="0"/>
              <a:t>의 약자로 비콘의 배터리정보</a:t>
            </a:r>
            <a:r>
              <a:rPr lang="en-US" altLang="ko-KR" sz="1400" smtClean="0"/>
              <a:t>, </a:t>
            </a:r>
            <a:r>
              <a:rPr lang="ko-KR" altLang="en-US" sz="1400" smtClean="0"/>
              <a:t>기기 온도</a:t>
            </a:r>
            <a:r>
              <a:rPr lang="en-US" altLang="ko-KR" sz="1400" smtClean="0"/>
              <a:t>, </a:t>
            </a:r>
            <a:r>
              <a:rPr lang="ko-KR" altLang="en-US" sz="1400" smtClean="0"/>
              <a:t>패킷 전송 횟수 등의 정보를 전송</a:t>
            </a:r>
            <a:endParaRPr lang="ko-KR" altLang="en-US" sz="1400">
              <a:latin typeface="나눔스퀘어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5720" y="5214950"/>
            <a:ext cx="2064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❹ Eddystone-EID</a:t>
            </a: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357158" y="5518032"/>
            <a:ext cx="69294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400" smtClean="0">
                <a:latin typeface="나눔스퀘어"/>
              </a:rPr>
              <a:t> </a:t>
            </a:r>
            <a:r>
              <a:rPr lang="ko-KR" altLang="en-US" sz="1400" smtClean="0"/>
              <a:t>‘가상계좌’ 번호와 같이 일시적으로 유효 한 </a:t>
            </a:r>
            <a:r>
              <a:rPr lang="en-US" sz="1400" smtClean="0"/>
              <a:t>ID</a:t>
            </a:r>
            <a:r>
              <a:rPr lang="ko-KR" altLang="en-US" sz="1400" smtClean="0"/>
              <a:t>를 제공하여 비콘을 짧은 시간 내 사용해야 하는 경우</a:t>
            </a:r>
            <a:endParaRPr lang="en-US" altLang="ko-KR" sz="140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z="1400" smtClean="0">
                <a:latin typeface="나눔스퀘어"/>
              </a:rPr>
              <a:t> </a:t>
            </a:r>
            <a:r>
              <a:rPr lang="ko-KR" altLang="en-US" sz="1400" smtClean="0">
                <a:latin typeface="나눔스퀘어"/>
              </a:rPr>
              <a:t>안전성과 보안이 강화된 패킷</a:t>
            </a:r>
            <a:endParaRPr lang="ko-KR" altLang="en-US" sz="1400">
              <a:latin typeface="나눔스퀘어"/>
            </a:endParaRPr>
          </a:p>
        </p:txBody>
      </p:sp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3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라즈베리파이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4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를 블루투스 비콘으로 바꾸기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4282" y="857233"/>
            <a:ext cx="72152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mtClean="0"/>
              <a:t> </a:t>
            </a:r>
            <a:r>
              <a:rPr lang="en-US" smtClean="0"/>
              <a:t>Eddystone-URL</a:t>
            </a:r>
            <a:r>
              <a:rPr lang="ko-KR" altLang="en-US" smtClean="0"/>
              <a:t>을 이용하여 </a:t>
            </a:r>
            <a:r>
              <a:rPr lang="en-US" altLang="ko-KR" smtClean="0"/>
              <a:t>Daum </a:t>
            </a:r>
            <a:r>
              <a:rPr lang="ko-KR" altLang="en-US" smtClean="0"/>
              <a:t>홈페이지를 패킷으로 내보내는 비콘을 만들어 보자</a:t>
            </a:r>
            <a:endParaRPr lang="en-US" altLang="ko-KR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mtClean="0"/>
              <a:t> 에디스톤 </a:t>
            </a:r>
            <a:r>
              <a:rPr lang="en-US" smtClean="0"/>
              <a:t>URL </a:t>
            </a:r>
            <a:r>
              <a:rPr lang="ko-KR" altLang="en-US" smtClean="0"/>
              <a:t>변환 사이트에서 보낼 </a:t>
            </a:r>
            <a:r>
              <a:rPr lang="en-US" altLang="ko-KR" smtClean="0"/>
              <a:t>Daum</a:t>
            </a:r>
            <a:r>
              <a:rPr lang="ko-KR" altLang="en-US" smtClean="0"/>
              <a:t>사이트 주소를 변환</a:t>
            </a: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en-US" smtClean="0">
                <a:hlinkClick r:id="rId2"/>
              </a:rPr>
              <a:t>https://yencarnacion.github.io/eddystone-url-calculator/</a:t>
            </a:r>
            <a:endParaRPr lang="en-US" smtClean="0"/>
          </a:p>
          <a:p>
            <a:pPr>
              <a:lnSpc>
                <a:spcPct val="150000"/>
              </a:lnSpc>
            </a:pPr>
            <a:endParaRPr lang="en-US" altLang="ko-KR" smtClean="0"/>
          </a:p>
          <a:p>
            <a:pPr>
              <a:lnSpc>
                <a:spcPct val="150000"/>
              </a:lnSpc>
            </a:pPr>
            <a:endParaRPr lang="en-US" altLang="ko-KR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3357562"/>
            <a:ext cx="8715436" cy="2653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3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라즈베리파이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4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를 블루투스 비콘으로 바꾸기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4282" y="857233"/>
            <a:ext cx="676787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smtClean="0">
                <a:latin typeface="나눔스퀘어 Bold"/>
              </a:rPr>
              <a:t>순서대로 라즈베리파이</a:t>
            </a:r>
            <a:r>
              <a:rPr lang="en-US" altLang="ko-KR" b="1" smtClean="0">
                <a:latin typeface="나눔스퀘어 Bold"/>
              </a:rPr>
              <a:t>4</a:t>
            </a:r>
            <a:r>
              <a:rPr lang="ko-KR" altLang="en-US" b="1" smtClean="0">
                <a:latin typeface="나눔스퀘어 Bold"/>
              </a:rPr>
              <a:t>를 비콘으로 바꾸기</a:t>
            </a:r>
            <a:endParaRPr lang="en-US" altLang="ko-KR" b="1" smtClean="0">
              <a:latin typeface="나눔스퀘어 Bold"/>
            </a:endParaRPr>
          </a:p>
          <a:p>
            <a:pPr>
              <a:lnSpc>
                <a:spcPct val="150000"/>
              </a:lnSpc>
            </a:pPr>
            <a:r>
              <a:rPr lang="ko-KR" altLang="en-US" smtClean="0">
                <a:latin typeface="나눔스퀘어 Bold"/>
              </a:rPr>
              <a:t>❶ 라즈베리 파이의 블루투스 기능을 켭니다</a:t>
            </a:r>
            <a:r>
              <a:rPr lang="en-US" altLang="ko-KR" smtClean="0">
                <a:latin typeface="나눔스퀘어 Bold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mtClean="0">
                <a:latin typeface="나눔스퀘어 Bold"/>
              </a:rPr>
              <a:t>❷ </a:t>
            </a:r>
            <a:r>
              <a:rPr lang="ko-KR" altLang="en-US" smtClean="0">
                <a:latin typeface="나눔스퀘어 Bold"/>
              </a:rPr>
              <a:t>블루투스 디바이스의 설정을 </a:t>
            </a:r>
            <a:r>
              <a:rPr lang="en-US" altLang="ko-KR" smtClean="0">
                <a:latin typeface="나눔스퀘어 Bold"/>
              </a:rPr>
              <a:t>"</a:t>
            </a:r>
            <a:r>
              <a:rPr lang="en-US" smtClean="0">
                <a:latin typeface="나눔스퀘어 Bold"/>
              </a:rPr>
              <a:t>advertise and not-connectable" </a:t>
            </a:r>
            <a:r>
              <a:rPr lang="ko-KR" altLang="en-US" smtClean="0">
                <a:latin typeface="나눔스퀘어 Bold"/>
              </a:rPr>
              <a:t>모드로 바꿉니다</a:t>
            </a:r>
            <a:r>
              <a:rPr lang="en-US" altLang="ko-KR" smtClean="0">
                <a:latin typeface="나눔스퀘어 Bold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mtClean="0">
                <a:latin typeface="나눔스퀘어 Bold"/>
              </a:rPr>
              <a:t>❸ </a:t>
            </a:r>
            <a:r>
              <a:rPr lang="ko-KR" altLang="en-US" smtClean="0">
                <a:latin typeface="나눔스퀘어 Bold"/>
              </a:rPr>
              <a:t>비콘이 전송할 패킷을 입력합니다</a:t>
            </a:r>
            <a:r>
              <a:rPr lang="en-US" altLang="ko-KR" smtClean="0">
                <a:latin typeface="나눔스퀘어 Bold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254536"/>
            <a:ext cx="9144000" cy="1674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14282" y="5143512"/>
            <a:ext cx="8143932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400" smtClean="0"/>
              <a:t> hciconfig hci0 up </a:t>
            </a:r>
            <a:r>
              <a:rPr lang="ko-KR" altLang="en-US" sz="1400" smtClean="0"/>
              <a:t>과 </a:t>
            </a:r>
            <a:r>
              <a:rPr lang="en-US" sz="1400" smtClean="0"/>
              <a:t>leadv 3 </a:t>
            </a:r>
            <a:r>
              <a:rPr lang="ko-KR" altLang="en-US" sz="1400" smtClean="0"/>
              <a:t>은 라즈베리 파이의 블루투스 장치를 동작</a:t>
            </a:r>
            <a:endParaRPr lang="en-US" altLang="ko-KR" sz="140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400" smtClean="0"/>
              <a:t> hcitool -i hci0 cmd </a:t>
            </a:r>
            <a:r>
              <a:rPr lang="ko-KR" altLang="en-US" sz="1400" smtClean="0"/>
              <a:t>명령어로 비콘 패킷 메시지를 브로드캐스트 전송</a:t>
            </a:r>
            <a:endParaRPr lang="en-US" altLang="ko-KR" sz="140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z="1400" smtClean="0"/>
              <a:t> </a:t>
            </a:r>
            <a:r>
              <a:rPr lang="ko-KR" altLang="en-US" sz="1400" smtClean="0"/>
              <a:t>패킷 메시지는 앞서 </a:t>
            </a:r>
            <a:r>
              <a:rPr lang="en-US" altLang="ko-KR" sz="1400" smtClean="0"/>
              <a:t>Daum</a:t>
            </a:r>
            <a:r>
              <a:rPr lang="ko-KR" altLang="en-US" sz="1400" smtClean="0"/>
              <a:t>사이트 주소를 변환한 데이터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3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라즈베리파이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4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를 블루투스 비콘으로 바꾸기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857232"/>
            <a:ext cx="9001156" cy="2984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1406" y="4143380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ko-KR" smtClean="0"/>
              <a:t> </a:t>
            </a:r>
            <a:r>
              <a:rPr lang="ko-KR" altLang="en-US" smtClean="0"/>
              <a:t>스마트폰에 비콘 스캐너 설치</a:t>
            </a:r>
            <a:endParaRPr lang="ko-KR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4514062"/>
            <a:ext cx="4872043" cy="2343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3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라즈베리파이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4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를 블루투스 비콘으로 바꾸기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406" y="857232"/>
            <a:ext cx="400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ko-KR" smtClean="0"/>
              <a:t> </a:t>
            </a:r>
            <a:r>
              <a:rPr lang="ko-KR" altLang="en-US" smtClean="0"/>
              <a:t>스마트폰에서 비콘 스캐너 앱 동작</a:t>
            </a:r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300167"/>
            <a:ext cx="4351597" cy="455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5095166" y="2578096"/>
            <a:ext cx="404883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z="1400" smtClean="0"/>
              <a:t> </a:t>
            </a:r>
            <a:r>
              <a:rPr lang="ko-KR" altLang="en-US" sz="1400" smtClean="0"/>
              <a:t>라즈베리파이에서 보내는 </a:t>
            </a:r>
            <a:endParaRPr lang="en-US" altLang="ko-KR" sz="1400" smtClean="0"/>
          </a:p>
          <a:p>
            <a:pPr>
              <a:lnSpc>
                <a:spcPct val="150000"/>
              </a:lnSpc>
            </a:pPr>
            <a:r>
              <a:rPr lang="en-US" altLang="ko-KR" sz="1400" smtClean="0"/>
              <a:t>Eddystone-URL </a:t>
            </a:r>
            <a:r>
              <a:rPr lang="ko-KR" altLang="en-US" sz="1400" smtClean="0"/>
              <a:t>형식의 데이터를 스캔</a:t>
            </a:r>
            <a:endParaRPr lang="en-US" altLang="ko-KR" sz="140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1400" smtClean="0"/>
              <a:t> 신호강도를 이용하여 라즈베리파이</a:t>
            </a:r>
            <a:r>
              <a:rPr lang="en-US" altLang="ko-KR" sz="1400" smtClean="0"/>
              <a:t>(</a:t>
            </a:r>
            <a:r>
              <a:rPr lang="ko-KR" altLang="en-US" sz="1400" smtClean="0"/>
              <a:t>비콘</a:t>
            </a:r>
            <a:r>
              <a:rPr lang="en-US" altLang="ko-KR" sz="1400" smtClean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400" smtClean="0"/>
              <a:t>과 핸드폰의 거리도 출력됨</a:t>
            </a:r>
            <a:endParaRPr lang="en-US" altLang="ko-KR" sz="140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3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라즈베리파이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4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를 블루투스 비콘으로 바꾸기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857231"/>
            <a:ext cx="5572164" cy="5417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3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라즈베리파이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4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를 블루투스 비콘으로 바꾸기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57158" y="1214422"/>
            <a:ext cx="3571900" cy="54292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00" smtClean="0">
              <a:solidFill>
                <a:schemeClr val="tx1"/>
              </a:solidFill>
            </a:endParaRPr>
          </a:p>
          <a:p>
            <a:r>
              <a:rPr lang="en-US" sz="1000" smtClean="0">
                <a:solidFill>
                  <a:schemeClr val="tx1"/>
                </a:solidFill>
              </a:rPr>
              <a:t>#-*-coding:utf-8-*-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/>
            </a:r>
            <a:br>
              <a:rPr lang="en-US" sz="1000" smtClean="0">
                <a:solidFill>
                  <a:schemeClr val="tx1"/>
                </a:solidFill>
              </a:rPr>
            </a:br>
            <a:r>
              <a:rPr lang="en-US" sz="1000" smtClean="0">
                <a:solidFill>
                  <a:srgbClr val="FF0000"/>
                </a:solidFill>
              </a:rPr>
              <a:t># </a:t>
            </a:r>
            <a:r>
              <a:rPr lang="ko-KR" altLang="en-US" sz="1000" smtClean="0">
                <a:solidFill>
                  <a:srgbClr val="FF0000"/>
                </a:solidFill>
              </a:rPr>
              <a:t>필요한 라이브러리를 불러옵니다</a:t>
            </a:r>
            <a:r>
              <a:rPr lang="en-US" altLang="ko-KR" sz="1000" smtClean="0">
                <a:solidFill>
                  <a:srgbClr val="FF0000"/>
                </a:solidFill>
              </a:rPr>
              <a:t>. </a:t>
            </a:r>
            <a:endParaRPr lang="ko-KR" altLang="en-US" sz="1000" smtClean="0">
              <a:solidFill>
                <a:srgbClr val="FF0000"/>
              </a:solidFill>
            </a:endParaRPr>
          </a:p>
          <a:p>
            <a:r>
              <a:rPr lang="en-US" sz="1000" smtClean="0">
                <a:solidFill>
                  <a:schemeClr val="tx1"/>
                </a:solidFill>
              </a:rPr>
              <a:t>import RPi.GPIO as GPIO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from flask import Flask, render_template, request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app = Flask(__name__)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/>
            </a:r>
            <a:br>
              <a:rPr lang="en-US" sz="1000" smtClean="0">
                <a:solidFill>
                  <a:schemeClr val="tx1"/>
                </a:solidFill>
              </a:rPr>
            </a:br>
            <a:r>
              <a:rPr lang="en-US" sz="1000" smtClean="0">
                <a:solidFill>
                  <a:srgbClr val="FF0000"/>
                </a:solidFill>
              </a:rPr>
              <a:t># </a:t>
            </a:r>
            <a:r>
              <a:rPr lang="ko-KR" altLang="en-US" sz="1000" smtClean="0">
                <a:solidFill>
                  <a:srgbClr val="FF0000"/>
                </a:solidFill>
              </a:rPr>
              <a:t>불필요한 </a:t>
            </a:r>
            <a:r>
              <a:rPr lang="en-US" sz="1000" smtClean="0">
                <a:solidFill>
                  <a:srgbClr val="FF0000"/>
                </a:solidFill>
              </a:rPr>
              <a:t>warning </a:t>
            </a:r>
            <a:r>
              <a:rPr lang="ko-KR" altLang="en-US" sz="1000" smtClean="0">
                <a:solidFill>
                  <a:srgbClr val="FF0000"/>
                </a:solidFill>
              </a:rPr>
              <a:t>제거</a:t>
            </a:r>
            <a:r>
              <a:rPr lang="en-US" altLang="ko-KR" sz="1000" smtClean="0">
                <a:solidFill>
                  <a:srgbClr val="FF0000"/>
                </a:solidFill>
              </a:rPr>
              <a:t>,  </a:t>
            </a:r>
            <a:r>
              <a:rPr lang="en-US" sz="1000" smtClean="0">
                <a:solidFill>
                  <a:srgbClr val="FF0000"/>
                </a:solidFill>
              </a:rPr>
              <a:t>GPIO</a:t>
            </a:r>
            <a:r>
              <a:rPr lang="ko-KR" altLang="en-US" sz="1000" smtClean="0">
                <a:solidFill>
                  <a:srgbClr val="FF0000"/>
                </a:solidFill>
              </a:rPr>
              <a:t>핀의 번호 모드 설정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GPIO.setwarnings(False)  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GPIO.setmode(GPIO.BCM)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/>
            </a:r>
            <a:br>
              <a:rPr lang="en-US" sz="1000" smtClean="0">
                <a:solidFill>
                  <a:schemeClr val="tx1"/>
                </a:solidFill>
              </a:rPr>
            </a:br>
            <a:r>
              <a:rPr lang="en-US" sz="1000" smtClean="0">
                <a:solidFill>
                  <a:srgbClr val="FF0000"/>
                </a:solidFill>
              </a:rPr>
              <a:t># pins</a:t>
            </a:r>
            <a:r>
              <a:rPr lang="ko-KR" altLang="en-US" sz="1000" smtClean="0">
                <a:solidFill>
                  <a:srgbClr val="FF0000"/>
                </a:solidFill>
              </a:rPr>
              <a:t>란 딕셔너리를 만들고 </a:t>
            </a:r>
            <a:r>
              <a:rPr lang="en-US" sz="1000" smtClean="0">
                <a:solidFill>
                  <a:srgbClr val="FF0000"/>
                </a:solidFill>
              </a:rPr>
              <a:t>GPIO 23, 24, 25 </a:t>
            </a:r>
            <a:r>
              <a:rPr lang="ko-KR" altLang="en-US" sz="1000" smtClean="0">
                <a:solidFill>
                  <a:srgbClr val="FF0000"/>
                </a:solidFill>
              </a:rPr>
              <a:t>핀을 저장합니다</a:t>
            </a:r>
            <a:r>
              <a:rPr lang="en-US" altLang="ko-KR" sz="1000" smtClean="0">
                <a:solidFill>
                  <a:srgbClr val="FF0000"/>
                </a:solidFill>
              </a:rPr>
              <a:t>.</a:t>
            </a:r>
            <a:endParaRPr lang="ko-KR" altLang="en-US" sz="1000" smtClean="0">
              <a:solidFill>
                <a:srgbClr val="FF0000"/>
              </a:solidFill>
            </a:endParaRPr>
          </a:p>
          <a:p>
            <a:r>
              <a:rPr lang="en-US" sz="1000" smtClean="0">
                <a:solidFill>
                  <a:schemeClr val="tx1"/>
                </a:solidFill>
              </a:rPr>
              <a:t>pins = {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   23 : {'name' : 'RED LED', 'state' : GPIO.LOW},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   24 : {'name' : 'Yellow LED', 'state' : GPIO.LOW},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   25 : {'name' : 'Green LED', 'state' : GPIO.LOW}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}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/>
            </a:r>
            <a:br>
              <a:rPr lang="en-US" sz="1000" smtClean="0">
                <a:solidFill>
                  <a:schemeClr val="tx1"/>
                </a:solidFill>
              </a:rPr>
            </a:br>
            <a:r>
              <a:rPr lang="en-US" sz="1000" smtClean="0">
                <a:solidFill>
                  <a:srgbClr val="FF0000"/>
                </a:solidFill>
              </a:rPr>
              <a:t># pins </a:t>
            </a:r>
            <a:r>
              <a:rPr lang="ko-KR" altLang="en-US" sz="1000" smtClean="0">
                <a:solidFill>
                  <a:srgbClr val="FF0000"/>
                </a:solidFill>
              </a:rPr>
              <a:t>내에 있는 모든 핀들을 출력으로 설정하고 초기 </a:t>
            </a:r>
            <a:r>
              <a:rPr lang="en-US" sz="1000" smtClean="0">
                <a:solidFill>
                  <a:srgbClr val="FF0000"/>
                </a:solidFill>
              </a:rPr>
              <a:t>LED OFF </a:t>
            </a:r>
            <a:r>
              <a:rPr lang="ko-KR" altLang="en-US" sz="1000" smtClean="0">
                <a:solidFill>
                  <a:srgbClr val="FF0000"/>
                </a:solidFill>
              </a:rPr>
              <a:t>설정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for pin in pins: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   GPIO.setup(pin, GPIO.OUT)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   GPIO.output(pin, GPIO.LOW)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/>
            </a:r>
            <a:br>
              <a:rPr lang="en-US" sz="1000" smtClean="0">
                <a:solidFill>
                  <a:schemeClr val="tx1"/>
                </a:solidFill>
              </a:rPr>
            </a:br>
            <a:r>
              <a:rPr lang="en-US" sz="1000" smtClean="0">
                <a:solidFill>
                  <a:schemeClr val="tx1"/>
                </a:solidFill>
              </a:rPr>
              <a:t/>
            </a:r>
            <a:br>
              <a:rPr lang="en-US" sz="1000" smtClean="0">
                <a:solidFill>
                  <a:schemeClr val="tx1"/>
                </a:solidFill>
              </a:rPr>
            </a:br>
            <a:endParaRPr lang="ko-KR" altLang="en-US" sz="1000">
              <a:solidFill>
                <a:schemeClr val="tx1"/>
              </a:solidFill>
              <a:latin typeface="나눔스퀘어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57158" y="857232"/>
            <a:ext cx="8501122" cy="3271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smtClean="0">
                <a:latin typeface="나눔스퀘어 Bold"/>
              </a:rPr>
              <a:t>실습파일</a:t>
            </a:r>
            <a:r>
              <a:rPr lang="en-US" altLang="ko-KR" sz="1600" smtClean="0">
                <a:latin typeface="나눔스퀘어 Bold"/>
              </a:rPr>
              <a:t>: /home/pi/webapps/ch08/homeLED.py</a:t>
            </a:r>
            <a:endParaRPr lang="ko-KR" altLang="en-US" sz="1600">
              <a:latin typeface="나눔스퀘어 Bold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000496" y="1214422"/>
            <a:ext cx="4857784" cy="54292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Ins="0" rtlCol="0" anchor="ctr"/>
          <a:lstStyle/>
          <a:p>
            <a:r>
              <a:rPr lang="en-US" altLang="ko-KR" sz="900" smtClean="0">
                <a:solidFill>
                  <a:srgbClr val="FF0000"/>
                </a:solidFill>
              </a:rPr>
              <a:t># </a:t>
            </a:r>
            <a:r>
              <a:rPr lang="ko-KR" altLang="en-US" sz="900" smtClean="0">
                <a:solidFill>
                  <a:srgbClr val="FF0000"/>
                </a:solidFill>
              </a:rPr>
              <a:t>웹서버의 </a:t>
            </a:r>
            <a:r>
              <a:rPr lang="en-US" sz="900" smtClean="0">
                <a:solidFill>
                  <a:srgbClr val="FF0000"/>
                </a:solidFill>
              </a:rPr>
              <a:t>URL </a:t>
            </a:r>
            <a:r>
              <a:rPr lang="ko-KR" altLang="en-US" sz="900" smtClean="0">
                <a:solidFill>
                  <a:srgbClr val="FF0000"/>
                </a:solidFill>
              </a:rPr>
              <a:t>주소로 접근하면 아래의 </a:t>
            </a:r>
            <a:r>
              <a:rPr lang="en-US" sz="900" smtClean="0">
                <a:solidFill>
                  <a:srgbClr val="FF0000"/>
                </a:solidFill>
              </a:rPr>
              <a:t>main() </a:t>
            </a:r>
            <a:r>
              <a:rPr lang="ko-KR" altLang="en-US" sz="900" smtClean="0">
                <a:solidFill>
                  <a:srgbClr val="FF0000"/>
                </a:solidFill>
              </a:rPr>
              <a:t>함수를 실행</a:t>
            </a:r>
          </a:p>
          <a:p>
            <a:r>
              <a:rPr lang="en-US" altLang="ko-KR" sz="900" smtClean="0">
                <a:solidFill>
                  <a:schemeClr val="tx1"/>
                </a:solidFill>
              </a:rPr>
              <a:t>@</a:t>
            </a:r>
            <a:r>
              <a:rPr lang="en-US" sz="900" smtClean="0">
                <a:solidFill>
                  <a:schemeClr val="tx1"/>
                </a:solidFill>
              </a:rPr>
              <a:t>app.route("/")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def main():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</a:t>
            </a:r>
            <a:r>
              <a:rPr lang="en-US" sz="900" smtClean="0">
                <a:solidFill>
                  <a:srgbClr val="FF0000"/>
                </a:solidFill>
              </a:rPr>
              <a:t>  # pins </a:t>
            </a:r>
            <a:r>
              <a:rPr lang="ko-KR" altLang="en-US" sz="900" smtClean="0">
                <a:solidFill>
                  <a:srgbClr val="FF0000"/>
                </a:solidFill>
              </a:rPr>
              <a:t>내에 있는 모든 핀의 현재 핀 상태</a:t>
            </a:r>
            <a:r>
              <a:rPr lang="en-US" altLang="ko-KR" sz="900" smtClean="0">
                <a:solidFill>
                  <a:srgbClr val="FF0000"/>
                </a:solidFill>
              </a:rPr>
              <a:t>(</a:t>
            </a:r>
            <a:r>
              <a:rPr lang="en-US" sz="900" smtClean="0">
                <a:solidFill>
                  <a:srgbClr val="FF0000"/>
                </a:solidFill>
              </a:rPr>
              <a:t>ON/OFF)</a:t>
            </a:r>
            <a:r>
              <a:rPr lang="ko-KR" altLang="en-US" sz="900" smtClean="0">
                <a:solidFill>
                  <a:srgbClr val="FF0000"/>
                </a:solidFill>
              </a:rPr>
              <a:t>를 업데이트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chemeClr val="tx1"/>
                </a:solidFill>
              </a:rPr>
              <a:t>for pin in pins: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   pins[pin]['state'] = GPIO.input(pin)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</a:t>
            </a:r>
            <a:r>
              <a:rPr lang="en-US" sz="900" smtClean="0">
                <a:solidFill>
                  <a:srgbClr val="FF0000"/>
                </a:solidFill>
              </a:rPr>
              <a:t> # tmplateData </a:t>
            </a:r>
            <a:r>
              <a:rPr lang="ko-KR" altLang="en-US" sz="900" smtClean="0">
                <a:solidFill>
                  <a:srgbClr val="FF0000"/>
                </a:solidFill>
              </a:rPr>
              <a:t>에 저장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chemeClr val="tx1"/>
                </a:solidFill>
              </a:rPr>
              <a:t>templateData = {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   'pins' : pins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   }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</a:t>
            </a:r>
            <a:r>
              <a:rPr lang="en-US" sz="900" smtClean="0">
                <a:solidFill>
                  <a:srgbClr val="FF0000"/>
                </a:solidFill>
              </a:rPr>
              <a:t> # </a:t>
            </a:r>
            <a:r>
              <a:rPr lang="ko-KR" altLang="en-US" sz="900" smtClean="0">
                <a:solidFill>
                  <a:srgbClr val="FF0000"/>
                </a:solidFill>
              </a:rPr>
              <a:t>업데이트 된 </a:t>
            </a:r>
            <a:r>
              <a:rPr lang="en-US" sz="900" smtClean="0">
                <a:solidFill>
                  <a:srgbClr val="FF0000"/>
                </a:solidFill>
              </a:rPr>
              <a:t>templateDate </a:t>
            </a:r>
            <a:r>
              <a:rPr lang="ko-KR" altLang="en-US" sz="900" smtClean="0">
                <a:solidFill>
                  <a:srgbClr val="FF0000"/>
                </a:solidFill>
              </a:rPr>
              <a:t>값들을 </a:t>
            </a:r>
            <a:r>
              <a:rPr lang="en-US" sz="900" smtClean="0">
                <a:solidFill>
                  <a:srgbClr val="FF0000"/>
                </a:solidFill>
              </a:rPr>
              <a:t>homeLED.html</a:t>
            </a:r>
            <a:r>
              <a:rPr lang="ko-KR" altLang="en-US" sz="900" smtClean="0">
                <a:solidFill>
                  <a:srgbClr val="FF0000"/>
                </a:solidFill>
              </a:rPr>
              <a:t>로 리턴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chemeClr val="tx1"/>
                </a:solidFill>
              </a:rPr>
              <a:t>return render_template('homeLED.html', **templateData)</a:t>
            </a:r>
          </a:p>
          <a:p>
            <a:r>
              <a:rPr lang="en-US" sz="900" smtClean="0">
                <a:solidFill>
                  <a:schemeClr val="tx1"/>
                </a:solidFill>
              </a:rPr>
              <a:t/>
            </a:r>
            <a:br>
              <a:rPr lang="en-US" sz="900" smtClean="0">
                <a:solidFill>
                  <a:schemeClr val="tx1"/>
                </a:solidFill>
              </a:rPr>
            </a:br>
            <a:r>
              <a:rPr lang="en-US" sz="900" smtClean="0">
                <a:solidFill>
                  <a:srgbClr val="FF0000"/>
                </a:solidFill>
              </a:rPr>
              <a:t># URL </a:t>
            </a:r>
            <a:r>
              <a:rPr lang="ko-KR" altLang="en-US" sz="900" smtClean="0">
                <a:solidFill>
                  <a:srgbClr val="FF0000"/>
                </a:solidFill>
              </a:rPr>
              <a:t>주소 끝에 “</a:t>
            </a:r>
            <a:r>
              <a:rPr lang="en-US" altLang="ko-KR" sz="900" smtClean="0">
                <a:solidFill>
                  <a:srgbClr val="FF0000"/>
                </a:solidFill>
              </a:rPr>
              <a:t>/</a:t>
            </a:r>
            <a:r>
              <a:rPr lang="ko-KR" altLang="en-US" sz="900" smtClean="0">
                <a:solidFill>
                  <a:srgbClr val="FF0000"/>
                </a:solidFill>
              </a:rPr>
              <a:t>핀번호</a:t>
            </a:r>
            <a:r>
              <a:rPr lang="en-US" altLang="ko-KR" sz="900" smtClean="0">
                <a:solidFill>
                  <a:srgbClr val="FF0000"/>
                </a:solidFill>
              </a:rPr>
              <a:t>/&lt;</a:t>
            </a:r>
            <a:r>
              <a:rPr lang="en-US" sz="900" smtClean="0">
                <a:solidFill>
                  <a:srgbClr val="FF0000"/>
                </a:solidFill>
              </a:rPr>
              <a:t>action&gt;”</a:t>
            </a:r>
            <a:r>
              <a:rPr lang="ko-KR" altLang="en-US" sz="900" smtClean="0">
                <a:solidFill>
                  <a:srgbClr val="FF0000"/>
                </a:solidFill>
              </a:rPr>
              <a:t>을 붙여서 접근시에 </a:t>
            </a:r>
            <a:r>
              <a:rPr lang="en-US" sz="900" smtClean="0">
                <a:solidFill>
                  <a:srgbClr val="FF0000"/>
                </a:solidFill>
              </a:rPr>
              <a:t>action </a:t>
            </a:r>
            <a:r>
              <a:rPr lang="ko-KR" altLang="en-US" sz="900" smtClean="0">
                <a:solidFill>
                  <a:srgbClr val="FF0000"/>
                </a:solidFill>
              </a:rPr>
              <a:t>값에 따라 동작</a:t>
            </a:r>
          </a:p>
          <a:p>
            <a:r>
              <a:rPr lang="en-US" altLang="ko-KR" sz="900" smtClean="0">
                <a:solidFill>
                  <a:schemeClr val="tx1"/>
                </a:solidFill>
              </a:rPr>
              <a:t>@</a:t>
            </a:r>
            <a:r>
              <a:rPr lang="en-US" sz="900" smtClean="0">
                <a:solidFill>
                  <a:schemeClr val="tx1"/>
                </a:solidFill>
              </a:rPr>
              <a:t>app.route("/&lt;changePin&gt;/&lt;action&gt;")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def action(changePin, action):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</a:t>
            </a:r>
            <a:r>
              <a:rPr lang="en-US" sz="900" smtClean="0">
                <a:solidFill>
                  <a:srgbClr val="FF0000"/>
                </a:solidFill>
              </a:rPr>
              <a:t> # </a:t>
            </a:r>
            <a:r>
              <a:rPr lang="ko-KR" altLang="en-US" sz="900" smtClean="0">
                <a:solidFill>
                  <a:srgbClr val="FF0000"/>
                </a:solidFill>
              </a:rPr>
              <a:t>현재 핀번호를 </a:t>
            </a:r>
            <a:r>
              <a:rPr lang="en-US" sz="900" smtClean="0">
                <a:solidFill>
                  <a:srgbClr val="FF0000"/>
                </a:solidFill>
              </a:rPr>
              <a:t>URL </a:t>
            </a:r>
            <a:r>
              <a:rPr lang="ko-KR" altLang="en-US" sz="900" smtClean="0">
                <a:solidFill>
                  <a:srgbClr val="FF0000"/>
                </a:solidFill>
              </a:rPr>
              <a:t>주소로 받은 핀번호로 설정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chemeClr val="tx1"/>
                </a:solidFill>
              </a:rPr>
              <a:t>changePin = int(changePin)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</a:t>
            </a:r>
            <a:r>
              <a:rPr lang="en-US" sz="900" smtClean="0">
                <a:solidFill>
                  <a:srgbClr val="FF0000"/>
                </a:solidFill>
              </a:rPr>
              <a:t> # </a:t>
            </a:r>
            <a:r>
              <a:rPr lang="ko-KR" altLang="en-US" sz="900" smtClean="0">
                <a:solidFill>
                  <a:srgbClr val="FF0000"/>
                </a:solidFill>
              </a:rPr>
              <a:t>핀번호에 설정된 이름값을 불러옴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chemeClr val="tx1"/>
                </a:solidFill>
              </a:rPr>
              <a:t>deviceName = pins[changePin]['name']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</a:t>
            </a:r>
            <a:r>
              <a:rPr lang="en-US" sz="900" smtClean="0">
                <a:solidFill>
                  <a:srgbClr val="FF0000"/>
                </a:solidFill>
              </a:rPr>
              <a:t> # action </a:t>
            </a:r>
            <a:r>
              <a:rPr lang="ko-KR" altLang="en-US" sz="900" smtClean="0">
                <a:solidFill>
                  <a:srgbClr val="FF0000"/>
                </a:solidFill>
              </a:rPr>
              <a:t>값이 ‘</a:t>
            </a:r>
            <a:r>
              <a:rPr lang="en-US" sz="900" smtClean="0">
                <a:solidFill>
                  <a:srgbClr val="FF0000"/>
                </a:solidFill>
              </a:rPr>
              <a:t>on’</a:t>
            </a:r>
            <a:r>
              <a:rPr lang="ko-KR" altLang="en-US" sz="900" smtClean="0">
                <a:solidFill>
                  <a:srgbClr val="FF0000"/>
                </a:solidFill>
              </a:rPr>
              <a:t>일때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chemeClr val="tx1"/>
                </a:solidFill>
              </a:rPr>
              <a:t>if action == "on":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   GPIO.output(changePin, GPIO.HIGH)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rgbClr val="FF0000"/>
                </a:solidFill>
              </a:rPr>
              <a:t># action </a:t>
            </a:r>
            <a:r>
              <a:rPr lang="ko-KR" altLang="en-US" sz="900" smtClean="0">
                <a:solidFill>
                  <a:srgbClr val="FF0000"/>
                </a:solidFill>
              </a:rPr>
              <a:t>값이 ‘</a:t>
            </a:r>
            <a:r>
              <a:rPr lang="en-US" sz="900" smtClean="0">
                <a:solidFill>
                  <a:srgbClr val="FF0000"/>
                </a:solidFill>
              </a:rPr>
              <a:t>off’</a:t>
            </a:r>
            <a:r>
              <a:rPr lang="ko-KR" altLang="en-US" sz="900" smtClean="0">
                <a:solidFill>
                  <a:srgbClr val="FF0000"/>
                </a:solidFill>
              </a:rPr>
              <a:t>일때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chemeClr val="tx1"/>
                </a:solidFill>
              </a:rPr>
              <a:t>if action == "off":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   GPIO.output(changePin, GPIO.LOW)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rgbClr val="FF0000"/>
                </a:solidFill>
              </a:rPr>
              <a:t># GPIO </a:t>
            </a:r>
            <a:r>
              <a:rPr lang="ko-KR" altLang="en-US" sz="900" smtClean="0">
                <a:solidFill>
                  <a:srgbClr val="FF0000"/>
                </a:solidFill>
              </a:rPr>
              <a:t>핀의 </a:t>
            </a:r>
            <a:r>
              <a:rPr lang="en-US" sz="900" smtClean="0">
                <a:solidFill>
                  <a:srgbClr val="FF0000"/>
                </a:solidFill>
              </a:rPr>
              <a:t>ON/OFF </a:t>
            </a:r>
            <a:r>
              <a:rPr lang="ko-KR" altLang="en-US" sz="900" smtClean="0">
                <a:solidFill>
                  <a:srgbClr val="FF0000"/>
                </a:solidFill>
              </a:rPr>
              <a:t>상태 저장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chemeClr val="tx1"/>
                </a:solidFill>
              </a:rPr>
              <a:t>pins[changPin]['state'] = GPIO.input(changPin)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</a:t>
            </a:r>
            <a:r>
              <a:rPr lang="en-US" sz="900" smtClean="0">
                <a:solidFill>
                  <a:srgbClr val="FF0000"/>
                </a:solidFill>
              </a:rPr>
              <a:t> # </a:t>
            </a:r>
            <a:r>
              <a:rPr lang="ko-KR" altLang="en-US" sz="900" smtClean="0">
                <a:solidFill>
                  <a:srgbClr val="FF0000"/>
                </a:solidFill>
              </a:rPr>
              <a:t>핀들의 값들을 업데이트 해서 </a:t>
            </a:r>
            <a:r>
              <a:rPr lang="en-US" sz="900" smtClean="0">
                <a:solidFill>
                  <a:srgbClr val="FF0000"/>
                </a:solidFill>
              </a:rPr>
              <a:t>templateData</a:t>
            </a:r>
            <a:r>
              <a:rPr lang="ko-KR" altLang="en-US" sz="900" smtClean="0">
                <a:solidFill>
                  <a:srgbClr val="FF0000"/>
                </a:solidFill>
              </a:rPr>
              <a:t>에 저장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chemeClr val="tx1"/>
                </a:solidFill>
              </a:rPr>
              <a:t>templateData = {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   'pins' : pins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}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</a:t>
            </a:r>
            <a:r>
              <a:rPr lang="en-US" sz="900" smtClean="0">
                <a:solidFill>
                  <a:srgbClr val="FF0000"/>
                </a:solidFill>
              </a:rPr>
              <a:t> # </a:t>
            </a:r>
            <a:r>
              <a:rPr lang="ko-KR" altLang="en-US" sz="900" smtClean="0">
                <a:solidFill>
                  <a:srgbClr val="FF0000"/>
                </a:solidFill>
              </a:rPr>
              <a:t>업데이트 된 </a:t>
            </a:r>
            <a:r>
              <a:rPr lang="en-US" sz="900" smtClean="0">
                <a:solidFill>
                  <a:srgbClr val="FF0000"/>
                </a:solidFill>
              </a:rPr>
              <a:t>templateDate </a:t>
            </a:r>
            <a:r>
              <a:rPr lang="ko-KR" altLang="en-US" sz="900" smtClean="0">
                <a:solidFill>
                  <a:srgbClr val="FF0000"/>
                </a:solidFill>
              </a:rPr>
              <a:t>값들을 </a:t>
            </a:r>
            <a:r>
              <a:rPr lang="en-US" sz="900" smtClean="0">
                <a:solidFill>
                  <a:srgbClr val="FF0000"/>
                </a:solidFill>
              </a:rPr>
              <a:t>homeLED.html</a:t>
            </a:r>
            <a:r>
              <a:rPr lang="ko-KR" altLang="en-US" sz="900" smtClean="0">
                <a:solidFill>
                  <a:srgbClr val="FF0000"/>
                </a:solidFill>
              </a:rPr>
              <a:t>로 리턴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chemeClr val="tx1"/>
                </a:solidFill>
              </a:rPr>
              <a:t>return render_template('homeLED.html', **templateData)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if __name__ == "__main__":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app.run(host='0.0.0.0', port=5000, debug=False)</a:t>
            </a:r>
            <a:endParaRPr lang="en-US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3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라즈베리파이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4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를 블루투스 비콘으로 바꾸기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4282" y="857232"/>
            <a:ext cx="8643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❷ html </a:t>
            </a:r>
            <a:r>
              <a:rPr lang="ko-KR" altLang="en-US" smtClean="0"/>
              <a:t>코드 작성하기 </a:t>
            </a:r>
            <a:endParaRPr lang="en-US" altLang="ko-KR" smtClean="0"/>
          </a:p>
          <a:p>
            <a:r>
              <a:rPr lang="en-US" sz="1400" smtClean="0"/>
              <a:t>ch08 </a:t>
            </a:r>
            <a:r>
              <a:rPr lang="ko-KR" altLang="en-US" sz="1400" smtClean="0"/>
              <a:t>폴더 내에 </a:t>
            </a:r>
            <a:r>
              <a:rPr lang="en-US" sz="1400" smtClean="0"/>
              <a:t>templates </a:t>
            </a:r>
            <a:r>
              <a:rPr lang="ko-KR" altLang="en-US" sz="1400" smtClean="0"/>
              <a:t>폴더를 만들고 그 안에 </a:t>
            </a:r>
            <a:r>
              <a:rPr lang="en-US" sz="1400" smtClean="0"/>
              <a:t>homeLED.html </a:t>
            </a:r>
            <a:r>
              <a:rPr lang="ko-KR" altLang="en-US" sz="1400" smtClean="0"/>
              <a:t>파일을 만듭니다</a:t>
            </a:r>
            <a:r>
              <a:rPr lang="en-US" altLang="ko-KR" smtClean="0"/>
              <a:t>. 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6244" y="1500174"/>
            <a:ext cx="7010400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3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라즈베리파이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4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를 블루투스 비콘으로 바꾸기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1214422"/>
            <a:ext cx="6827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 </a:t>
            </a:r>
            <a:r>
              <a:rPr lang="ko-KR" altLang="en-US" smtClean="0"/>
              <a:t>터미널을 열어서 </a:t>
            </a:r>
            <a:r>
              <a:rPr lang="en-US" smtClean="0"/>
              <a:t>hostname -I</a:t>
            </a:r>
            <a:r>
              <a:rPr lang="ko-KR" altLang="en-US" smtClean="0"/>
              <a:t>를 입력하면 </a:t>
            </a:r>
            <a:r>
              <a:rPr lang="en-US" smtClean="0"/>
              <a:t>Pi</a:t>
            </a:r>
            <a:r>
              <a:rPr lang="ko-KR" altLang="en-US" smtClean="0"/>
              <a:t>의 </a:t>
            </a:r>
            <a:r>
              <a:rPr lang="en-US" smtClean="0"/>
              <a:t>IP </a:t>
            </a:r>
            <a:r>
              <a:rPr lang="ko-KR" altLang="en-US" smtClean="0"/>
              <a:t>주소가 표시</a:t>
            </a:r>
            <a:endParaRPr lang="ko-KR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6" y="785794"/>
            <a:ext cx="2000263" cy="502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624004"/>
            <a:ext cx="1724025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1406" y="2357430"/>
            <a:ext cx="90011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z="1400" smtClean="0"/>
              <a:t> </a:t>
            </a:r>
            <a:r>
              <a:rPr lang="ko-KR" altLang="en-US" sz="1400" smtClean="0"/>
              <a:t>라즈베리 파이와 같은 공유기에 와이파이로 접속한 스마트 폰이나 같은 공유기에 유선으로 접속되어 있는 </a:t>
            </a:r>
            <a:endParaRPr lang="en-US" altLang="ko-KR" sz="1400" smtClean="0"/>
          </a:p>
          <a:p>
            <a:pPr>
              <a:lnSpc>
                <a:spcPct val="150000"/>
              </a:lnSpc>
            </a:pPr>
            <a:r>
              <a:rPr lang="en-US" sz="1400" smtClean="0"/>
              <a:t>PC</a:t>
            </a:r>
            <a:r>
              <a:rPr lang="ko-KR" altLang="en-US" sz="1400" smtClean="0"/>
              <a:t>로 웹 브라우저를 열어서 라즈베리 파이 </a:t>
            </a:r>
            <a:r>
              <a:rPr lang="en-US" sz="1400" smtClean="0"/>
              <a:t>IP </a:t>
            </a:r>
            <a:r>
              <a:rPr lang="ko-KR" altLang="en-US" sz="1400" smtClean="0"/>
              <a:t>주소 </a:t>
            </a:r>
            <a:r>
              <a:rPr lang="en-US" altLang="ko-KR" sz="1400" smtClean="0"/>
              <a:t>: 5000</a:t>
            </a:r>
            <a:r>
              <a:rPr lang="ko-KR" altLang="en-US" sz="1400" smtClean="0"/>
              <a:t>을 입력합니다</a:t>
            </a:r>
            <a:r>
              <a:rPr lang="en-US" altLang="ko-KR" sz="1400" smtClean="0"/>
              <a:t>.</a:t>
            </a:r>
            <a:r>
              <a:rPr lang="ko-KR" altLang="en-US" sz="1400" smtClean="0"/>
              <a:t> </a:t>
            </a:r>
            <a:endParaRPr lang="ko-KR" altLang="en-US" sz="140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3143248"/>
            <a:ext cx="3114675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3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라즈베리파이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4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를 블루투스 비콘으로 바꾸기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85794"/>
            <a:ext cx="6429420" cy="388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1112513"/>
            <a:ext cx="7880321" cy="2745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6589" y="4000528"/>
            <a:ext cx="7670121" cy="285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3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라즈베리파이</a:t>
            </a:r>
            <a:r>
              <a:rPr lang="en-US" altLang="ko-KR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4</a:t>
            </a:r>
            <a:r>
              <a:rPr lang="ko-KR" altLang="en-US" sz="2400" b="1" smtClean="0">
                <a:latin typeface="나눔스퀘어라운드 ExtraBold" pitchFamily="50" charset="-127"/>
                <a:ea typeface="나눔스퀘어라운드 ExtraBold" pitchFamily="50" charset="-127"/>
              </a:rPr>
              <a:t>를 블루투스 비콘으로 바꾸기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857233"/>
            <a:ext cx="3476546" cy="3071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571868" y="2500306"/>
            <a:ext cx="2414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ko-KR" smtClean="0"/>
              <a:t>VISIT WEBSITE </a:t>
            </a:r>
            <a:r>
              <a:rPr lang="ko-KR" altLang="en-US" smtClean="0"/>
              <a:t>클릭</a:t>
            </a:r>
            <a:endParaRPr lang="ko-KR" alt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89599" y="2500306"/>
            <a:ext cx="3154401" cy="3462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9" name="WordArt 5"/>
          <p:cNvSpPr>
            <a:spLocks noChangeArrowheads="1" noChangeShapeType="1" noTextEdit="1"/>
          </p:cNvSpPr>
          <p:nvPr/>
        </p:nvSpPr>
        <p:spPr bwMode="gray">
          <a:xfrm>
            <a:off x="2012950" y="4953000"/>
            <a:ext cx="5378450" cy="6858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ko-KR" sz="3600" b="1" kern="1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latin typeface="Arial"/>
                <a:cs typeface="Arial"/>
              </a:rPr>
              <a:t>Thank You !</a:t>
            </a:r>
            <a:endParaRPr lang="ko-KR" altLang="en-US" sz="3600" b="1" kern="10">
              <a:ln w="19050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-32" y="6572272"/>
            <a:ext cx="2895600" cy="320675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JSPStudy.co.kr</a:t>
            </a:r>
            <a:endParaRPr lang="en-US" altLang="ko-K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8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9" grpId="0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2730</TotalTime>
  <Words>1005</Words>
  <Application>Microsoft Office PowerPoint</Application>
  <PresentationFormat>화면 슬라이드 쇼(4:3)</PresentationFormat>
  <Paragraphs>163</Paragraphs>
  <Slides>23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4" baseType="lpstr">
      <vt:lpstr>Office 테마</vt:lpstr>
      <vt:lpstr>PowerPoint 프레젠테이션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라즈베리파이 설치</dc:title>
  <dc:creator>ssarmango</dc:creator>
  <cp:lastModifiedBy>JSPStudy</cp:lastModifiedBy>
  <cp:revision>403</cp:revision>
  <dcterms:created xsi:type="dcterms:W3CDTF">2017-08-23T11:56:55Z</dcterms:created>
  <dcterms:modified xsi:type="dcterms:W3CDTF">2020-01-17T05:37:40Z</dcterms:modified>
</cp:coreProperties>
</file>