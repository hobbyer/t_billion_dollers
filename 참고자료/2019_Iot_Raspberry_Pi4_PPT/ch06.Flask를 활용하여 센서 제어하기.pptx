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323" r:id="rId2"/>
    <p:sldId id="322" r:id="rId3"/>
    <p:sldId id="325" r:id="rId4"/>
    <p:sldId id="328" r:id="rId5"/>
    <p:sldId id="332" r:id="rId6"/>
    <p:sldId id="333" r:id="rId7"/>
    <p:sldId id="335" r:id="rId8"/>
    <p:sldId id="336" r:id="rId9"/>
    <p:sldId id="337" r:id="rId10"/>
    <p:sldId id="338" r:id="rId11"/>
    <p:sldId id="339" r:id="rId12"/>
    <p:sldId id="334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de.headmelted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flask.pocoo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ngspecialist/RaspberryPi4-Book-Example/tree/master/ch06/home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codingspecialist/RaspberryPi4-Book-Example/blob/master/ch06/process/process.py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odingspecialist/RaspberryPi4-Book-Example/blob/master/ch06/weather/weather_test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08720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ch06 </a:t>
            </a:r>
            <a:r>
              <a:rPr lang="en-US" altLang="ko-KR" sz="4000" b="1" dirty="0">
                <a:latin typeface="나눔스퀘어라운드 ExtraBold" pitchFamily="50" charset="-127"/>
                <a:ea typeface="나눔스퀘어라운드 ExtraBold" pitchFamily="50" charset="-127"/>
              </a:rPr>
              <a:t>Flask</a:t>
            </a:r>
            <a:r>
              <a:rPr lang="ko-KR" altLang="en-US" sz="4000" b="1" dirty="0">
                <a:latin typeface="나눔스퀘어라운드 ExtraBold" pitchFamily="50" charset="-127"/>
                <a:ea typeface="나눔스퀘어라운드 ExtraBold" pitchFamily="50" charset="-127"/>
              </a:rPr>
              <a:t>를 활용하여 센서 제어하기</a:t>
            </a:r>
          </a:p>
        </p:txBody>
      </p:sp>
    </p:spTree>
    <p:extLst>
      <p:ext uri="{BB962C8B-B14F-4D97-AF65-F5344CB8AC3E}">
        <p14:creationId xmlns:p14="http://schemas.microsoft.com/office/powerpoint/2010/main" val="26456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Contents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7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학습목표</a:t>
            </a:r>
            <a:endParaRPr lang="en-US" altLang="ko-KR" dirty="0" smtClean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73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설치하고 웹 서버를 구축할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활용하여 센서를 제어할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IP, Port, Process,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Cron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Daemon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대해서 이해할 수 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152" y="2852936"/>
            <a:ext cx="559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학습내용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5080" y="3212976"/>
            <a:ext cx="5571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세팅하기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웹 서버 구축하기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라우팅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LED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제어하기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웹 페이지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IP, Port, Process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개념 잡기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Cron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Daemon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개념 잡기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공공데이터 활용하기</a:t>
            </a: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75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1. Flask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세팅하기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052736"/>
            <a:ext cx="586704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대표적인 웹 프레임워크로 장고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Django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와 플라스크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(Flask)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많이 사용합니다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둘 중에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플라스크를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이용하는 이유는 다음과 같습니다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장고는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풀스택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프레임워크입니다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보통 웹 프로그래밍을 할 때 필요로 하는 모든 것들이 종합적으로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갖추어진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프레임워크를 의미하는데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인증과 권한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ORM,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템플릿 라이브러리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로그처리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보안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관리자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기능 등의 다양한 요소가 기본적으로 제공됩니다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4653136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플라스크는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경량 웹 프레임워크입니다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꼭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필요한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핵심요소를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제외하고는 필요할 때 마다 직접 환경에 맞춰 개발을 하고 라이브러리를 찾아서 추가해야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15" y="2852936"/>
            <a:ext cx="3947502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Flask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세팅하기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1-1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라즈베리파이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에서 설치하기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412776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VSCode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(Visual Studio Code)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설치하기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4158" y="1772816"/>
            <a:ext cx="8446314" cy="1815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sudo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passwd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root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비밀번호입력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su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root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비밀번호입력</a:t>
            </a:r>
          </a:p>
          <a:p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wget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https://packagecloud.io/headmelted/codebuilds/gpgkey -O - |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sudo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apt-key add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&lt;(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wget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-O - https://code.headmelted.com/installers/apt.sh )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</a:endParaRPr>
          </a:p>
          <a:p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$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apt-get install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code-</a:t>
            </a: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oss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=1.29.0-1539702286</a:t>
            </a:r>
            <a:endParaRPr lang="en-US" altLang="ko-KR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43" y="3808270"/>
            <a:ext cx="2954503" cy="27588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260" y="3808269"/>
            <a:ext cx="5205859" cy="2758885"/>
          </a:xfrm>
          <a:prstGeom prst="rect">
            <a:avLst/>
          </a:prstGeom>
        </p:spPr>
      </p:pic>
      <p:sp>
        <p:nvSpPr>
          <p:cNvPr id="14" name="모서리가 둥근 직사각형 13"/>
          <p:cNvSpPr/>
          <p:nvPr/>
        </p:nvSpPr>
        <p:spPr>
          <a:xfrm>
            <a:off x="6176533" y="1052736"/>
            <a:ext cx="2967071" cy="5760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4"/>
              </a:rPr>
              <a:t>https://code.headmelted.com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hlinkClick r:id="rId4"/>
              </a:rPr>
              <a:t>/</a:t>
            </a:r>
            <a:endParaRPr lang="en-US" altLang="ko-KR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65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1. Flask </a:t>
            </a:r>
            <a:r>
              <a:rPr lang="ko-KR" altLang="en-US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세팅하기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1-2 Flask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설치하기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176533" y="1052736"/>
            <a:ext cx="2859963" cy="5760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hlinkClick r:id="rId2"/>
              </a:rPr>
              <a:t>http://</a:t>
            </a:r>
            <a:r>
              <a:rPr lang="en-US" altLang="ko-KR" sz="1400" dirty="0" smtClean="0">
                <a:solidFill>
                  <a:schemeClr val="tx1"/>
                </a:solidFill>
                <a:hlinkClick r:id="rId2"/>
              </a:rPr>
              <a:t>flask.pocoo.org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1720553"/>
            <a:ext cx="2613887" cy="304064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5257099"/>
            <a:ext cx="7658764" cy="1059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5152" y="1412776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VSCode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에서 터미널 열기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0780" y="4949322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설치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58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2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Flask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웹 서버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구축하기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8116004" cy="30482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44" y="3980919"/>
            <a:ext cx="5105843" cy="11202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109428"/>
            <a:ext cx="7200800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3.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Flask </a:t>
            </a:r>
            <a:r>
              <a:rPr lang="ko-KR" altLang="en-US" sz="24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라우팅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5080" y="980728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Flask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URL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처리하는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것을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URI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디스패치라고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디스패치는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사용자가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입력한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URI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지켜보다가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URI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분석하여 올바른 길로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안내합니다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59" y="1697996"/>
            <a:ext cx="7437817" cy="486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4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Flask LED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제어하기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4-1 Flask LED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제어 정적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라우팅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87" y="1769499"/>
            <a:ext cx="4465707" cy="46943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125" y="2081944"/>
            <a:ext cx="2476715" cy="308636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87" y="1412776"/>
            <a:ext cx="5494496" cy="342930"/>
          </a:xfrm>
          <a:prstGeom prst="rect">
            <a:avLst/>
          </a:prstGeom>
        </p:spPr>
      </p:pic>
      <p:sp>
        <p:nvSpPr>
          <p:cNvPr id="12" name="오른쪽 화살표 11"/>
          <p:cNvSpPr/>
          <p:nvPr/>
        </p:nvSpPr>
        <p:spPr>
          <a:xfrm>
            <a:off x="4830925" y="3471164"/>
            <a:ext cx="504056" cy="30792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57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Flask LED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제어하기 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0" y="1988840"/>
            <a:ext cx="7766490" cy="3381704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6563714" y="2780928"/>
            <a:ext cx="2160240" cy="16561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참고</a:t>
            </a:r>
            <a:endParaRPr lang="en-US" altLang="ko-KR" b="1" dirty="0" smtClean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저항은 </a:t>
            </a:r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200</a:t>
            </a:r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옴 이상만 </a:t>
            </a:r>
            <a:endParaRPr lang="en-US" altLang="ko-KR" sz="1400" dirty="0" smtClean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된다면 </a:t>
            </a:r>
            <a:r>
              <a:rPr lang="en-US" altLang="ko-KR" sz="1400" dirty="0" smtClean="0">
                <a:solidFill>
                  <a:schemeClr val="tx1"/>
                </a:solidFill>
                <a:latin typeface="나눔스퀘어" pitchFamily="50" charset="-127"/>
                <a:ea typeface="나눔스퀘어" pitchFamily="50" charset="-127"/>
              </a:rPr>
              <a:t>OK!!</a:t>
            </a:r>
            <a:endParaRPr lang="ko-KR" altLang="en-US" sz="1400" dirty="0">
              <a:solidFill>
                <a:schemeClr val="tx1"/>
              </a:solidFill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15" y="980728"/>
            <a:ext cx="3779848" cy="86875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589240"/>
            <a:ext cx="4562944" cy="34168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6021288"/>
            <a:ext cx="4468024" cy="3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Flask LED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제어하기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-2 Flask LED 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제어 동적 </a:t>
            </a:r>
            <a:r>
              <a:rPr lang="ko-KR" altLang="en-US" dirty="0" err="1">
                <a:latin typeface="나눔스퀘어라운드 Bold" pitchFamily="50" charset="-127"/>
                <a:ea typeface="나눔스퀘어라운드 Bold" pitchFamily="50" charset="-127"/>
              </a:rPr>
              <a:t>라우팅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&lt;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산형 괄호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393612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/>
              <a:t>동적으로 변경되는 </a:t>
            </a:r>
            <a:r>
              <a:rPr lang="en-US" altLang="ko-KR" sz="1400" dirty="0"/>
              <a:t>URL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뷰</a:t>
            </a:r>
            <a:r>
              <a:rPr lang="ko-KR" altLang="en-US" sz="1400" dirty="0"/>
              <a:t> 함수를 사용하기 위해서는 산형 괄호 </a:t>
            </a:r>
            <a:r>
              <a:rPr lang="en-US" altLang="ko-KR" sz="1400" dirty="0"/>
              <a:t>&lt;&gt;</a:t>
            </a:r>
            <a:r>
              <a:rPr lang="ko-KR" altLang="en-US" sz="1400" dirty="0"/>
              <a:t>을 이용해서 변수를 전달해야 </a:t>
            </a:r>
            <a:r>
              <a:rPr lang="ko-KR" altLang="en-US" sz="1400" dirty="0" smtClean="0"/>
              <a:t>하고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해당 </a:t>
            </a:r>
            <a:r>
              <a:rPr lang="ko-KR" altLang="en-US" sz="1400" dirty="0"/>
              <a:t>변수가 클라이언트로 부터 </a:t>
            </a:r>
            <a:r>
              <a:rPr lang="en-US" altLang="ko-KR" sz="1400" dirty="0"/>
              <a:t>URL</a:t>
            </a:r>
            <a:r>
              <a:rPr lang="ko-KR" altLang="en-US" sz="1400" dirty="0"/>
              <a:t>로 전달되면 함수의 매개변수로 받아줘야 </a:t>
            </a:r>
            <a:r>
              <a:rPr lang="ko-KR" altLang="en-US" sz="1400" dirty="0" smtClean="0"/>
              <a:t>사용이 가능합니다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60" y="6248847"/>
            <a:ext cx="4930568" cy="3505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83" y="2132276"/>
            <a:ext cx="4198984" cy="345978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029" y="2492896"/>
            <a:ext cx="4229467" cy="3581711"/>
          </a:xfrm>
          <a:prstGeom prst="rect">
            <a:avLst/>
          </a:prstGeom>
        </p:spPr>
      </p:pic>
      <p:sp>
        <p:nvSpPr>
          <p:cNvPr id="19" name="오른쪽 화살표 18"/>
          <p:cNvSpPr/>
          <p:nvPr/>
        </p:nvSpPr>
        <p:spPr>
          <a:xfrm>
            <a:off x="4445767" y="4008665"/>
            <a:ext cx="504056" cy="30792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75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4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Flask LED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제어하기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152" y="982469"/>
            <a:ext cx="544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4-3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 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Flask LED 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제어 동적 </a:t>
            </a:r>
            <a:r>
              <a:rPr lang="ko-KR" altLang="en-US" dirty="0" err="1">
                <a:latin typeface="나눔스퀘어라운드 Bold" pitchFamily="50" charset="-127"/>
                <a:ea typeface="나눔스퀘어라운드 Bold" pitchFamily="50" charset="-127"/>
              </a:rPr>
              <a:t>라우팅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&lt;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쿼리 </a:t>
            </a:r>
            <a:r>
              <a:rPr lang="ko-KR" altLang="en-US" dirty="0" err="1">
                <a:latin typeface="나눔스퀘어라운드 Bold" pitchFamily="50" charset="-127"/>
                <a:ea typeface="나눔스퀘어라운드 Bold" pitchFamily="50" charset="-127"/>
              </a:rPr>
              <a:t>스트링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1393612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/>
              <a:t>다음과 </a:t>
            </a:r>
            <a:r>
              <a:rPr lang="ko-KR" altLang="en-US" sz="1400" dirty="0"/>
              <a:t>같이 </a:t>
            </a:r>
            <a:r>
              <a:rPr lang="ko-KR" altLang="en-US" sz="1400" dirty="0" err="1" smtClean="0"/>
              <a:t>쿼리스트링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방식으로도 호출 </a:t>
            </a:r>
            <a:r>
              <a:rPr lang="ko-KR" altLang="en-US" sz="1400" dirty="0" smtClean="0"/>
              <a:t>가능합니다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16" y="2073819"/>
            <a:ext cx="4229467" cy="36884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701" y="2099174"/>
            <a:ext cx="4092295" cy="3817951"/>
          </a:xfrm>
          <a:prstGeom prst="rect">
            <a:avLst/>
          </a:prstGeom>
        </p:spPr>
      </p:pic>
      <p:sp>
        <p:nvSpPr>
          <p:cNvPr id="20" name="오른쪽 화살표 19"/>
          <p:cNvSpPr/>
          <p:nvPr/>
        </p:nvSpPr>
        <p:spPr>
          <a:xfrm>
            <a:off x="4355976" y="3610091"/>
            <a:ext cx="504056" cy="30792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57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5. Flask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웹 페이지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908720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HTML/CSS/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Javascript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관련된 이론은 이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책에서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다루지 않습니다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이론적인 부분이 부족하다면 아무런 이해 없이 클론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코딩 하면 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52" y="154750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5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-1 Flask, HTML, CSS, </a:t>
            </a:r>
            <a:r>
              <a:rPr lang="en-US" altLang="ko-KR" dirty="0" err="1">
                <a:latin typeface="나눔스퀘어라운드 Bold" pitchFamily="50" charset="-127"/>
                <a:ea typeface="나눔스퀘어라운드 Bold" pitchFamily="50" charset="-127"/>
              </a:rPr>
              <a:t>Javascript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를 이용한 </a:t>
            </a:r>
            <a:r>
              <a:rPr lang="ko-KR" altLang="en-US" dirty="0" err="1">
                <a:latin typeface="나눔스퀘어라운드 Bold" pitchFamily="50" charset="-127"/>
                <a:ea typeface="나눔스퀘어라운드 Bold" pitchFamily="50" charset="-127"/>
              </a:rPr>
              <a:t>웹페이지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 만들기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2492896"/>
            <a:ext cx="7359083" cy="331236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528" y="1988840"/>
            <a:ext cx="85233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3"/>
              </a:rPr>
              <a:t>https://github.com/codingspecialist/RaspberryPi4-Book-Example/tree/master/ch06/home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8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IP, Port, Process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IP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는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internet protocol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의 약자입니다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송신 호스트와 수신 호스트가 데이터를 서로 주고 받는데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필요한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프로토콜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규약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을 의미합니다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데이터는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패킷으로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분할되어 전송되고 받은 쪽에서는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분할된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패킷을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조립하게 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6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-1 IP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개념잡기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2115323"/>
            <a:ext cx="5966977" cy="17603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4690318"/>
            <a:ext cx="8009315" cy="15469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7122" y="4058488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패킷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스위칭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방식은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Data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를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패킷으로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나누어 전송하기 때문에 동시 전송이 가능합니다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156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IP, Port, Process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Port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는 컴퓨터 간 상호 통신을 위해 프로토콜에서 이용하는 가상의 연결 단을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의미합니다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6-2 Port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개념잡기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152" y="3553852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수신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호스트가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4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개의 컴퓨터와 서로 다른 통신을 한다는 의미는 최소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4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개 이상의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Port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로 통신을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하고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있다는 의미입니다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  <a:endParaRPr lang="en-US" altLang="ko-KR" sz="1400" dirty="0" smtClean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7" y="1935350"/>
            <a:ext cx="2248095" cy="14936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7" y="4149080"/>
            <a:ext cx="3496423" cy="24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9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IP, Port, Process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1340768"/>
            <a:ext cx="58670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프로그램은 보조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기억장치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하드디스크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, SSD)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에 존재하며 실행되기를 기다리는 명령어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(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코드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)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와 정적인 데이터의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묶음입니다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이 프로그램의 명령어와 정적 데이터가 메모리에 적재되면 생명이 있는 프로세스가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즉 프로세스란 실행 중인 프로그램입니다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altLang="ko-KR" sz="1400" dirty="0">
              <a:latin typeface="나눔스퀘어" pitchFamily="50" charset="-127"/>
              <a:ea typeface="나눔스퀘어" pitchFamily="50" charset="-127"/>
              <a:cs typeface="Ebrima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/home/pi/webapps/ch06/process/process.py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파일을 생성합니다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6-3 Process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개념잡기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55497" y="2708920"/>
            <a:ext cx="86089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2"/>
              </a:rPr>
              <a:t>https://github.com/codingspecialist/RaspberryPi4-Book-Example/blob/master/ch06/process/process.py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7122" y="3429000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실행해봅니다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93" y="3789040"/>
            <a:ext cx="2377646" cy="602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7122" y="4633391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실행을 하게 되면 프로세스가 되었다는 뜻입니다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백그라운드 프로세스를 확인해봅니다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5159654"/>
            <a:ext cx="5311601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5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6. IP, Port, Process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152" y="908720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netstat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명령어로 프로세스를 확인해봅니다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82" y="1268761"/>
            <a:ext cx="5098222" cy="22328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7122" y="3645025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프로세스를 종료하는 방법은 아래와 같습니다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347" y="4005065"/>
            <a:ext cx="1292341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sudo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 kill [PID]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7122" y="4489376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PID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가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2172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번이기 때문에 아래와 같이 종료합니다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  <a:cs typeface="Ebrima" pitchFamily="2" charset="0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5" y="4832927"/>
            <a:ext cx="1656184" cy="49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6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7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cron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과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daemon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7-1 </a:t>
            </a:r>
            <a:r>
              <a:rPr lang="en-US" altLang="ko-KR" dirty="0" err="1" smtClean="0">
                <a:latin typeface="나눔스퀘어라운드 Bold" pitchFamily="50" charset="-127"/>
                <a:ea typeface="나눔스퀘어라운드 Bold" pitchFamily="50" charset="-127"/>
              </a:rPr>
              <a:t>cron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 (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크론</a:t>
            </a:r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)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개념잡기</a:t>
            </a:r>
            <a:endParaRPr lang="en-US" altLang="ko-KR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1" y="1988029"/>
            <a:ext cx="6363144" cy="4824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5152" y="1340768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cron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은 주기적인 실행이 필요할 때 사용합니다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예를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들어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매일 아침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7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시가 되면 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led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를 작동시키고 싶다면 </a:t>
            </a:r>
            <a:r>
              <a:rPr lang="en-US" altLang="ko-KR" sz="1400" dirty="0" err="1">
                <a:latin typeface="나눔스퀘어" pitchFamily="50" charset="-127"/>
                <a:ea typeface="나눔스퀘어" pitchFamily="50" charset="-127"/>
              </a:rPr>
              <a:t>cron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을 사용하면 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86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7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cron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과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daemon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76" y="980728"/>
            <a:ext cx="4922947" cy="34826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4509120"/>
            <a:ext cx="5730737" cy="18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2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7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cron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과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daemon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7-2 daemon(</a:t>
            </a:r>
            <a:r>
              <a:rPr lang="ko-KR" altLang="en-US" dirty="0">
                <a:latin typeface="나눔스퀘어라운드 Bold" pitchFamily="50" charset="-127"/>
                <a:ea typeface="나눔스퀘어라운드 Bold" pitchFamily="50" charset="-127"/>
              </a:rPr>
              <a:t>데몬</a:t>
            </a:r>
            <a:r>
              <a:rPr lang="en-US" altLang="ko-KR" dirty="0">
                <a:latin typeface="나눔스퀘어라운드 Bold" pitchFamily="50" charset="-127"/>
                <a:ea typeface="나눔스퀘어라운드 Bold" pitchFamily="50" charset="-127"/>
              </a:rPr>
              <a:t>)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개념잡기</a:t>
            </a:r>
            <a:endParaRPr lang="ko-KR" altLang="en-US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52" y="1340768"/>
            <a:ext cx="586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ko-KR" sz="1400" dirty="0" err="1" smtClean="0">
                <a:latin typeface="나눔스퀘어" pitchFamily="50" charset="-127"/>
                <a:ea typeface="나눔스퀘어" pitchFamily="50" charset="-127"/>
              </a:rPr>
              <a:t>cron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이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주기를 가지고 실행되는 것이라면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daemon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은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계속 실행되는 것입니다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LED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를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라즈베리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파이를 </a:t>
            </a:r>
            <a:r>
              <a:rPr lang="ko-KR" altLang="en-US" sz="1400" dirty="0" err="1" smtClean="0">
                <a:latin typeface="나눔스퀘어" pitchFamily="50" charset="-127"/>
                <a:ea typeface="나눔스퀘어" pitchFamily="50" charset="-127"/>
              </a:rPr>
              <a:t>재부팅했을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때부터 종료 시까지 자동으로 실행함과 동시에 계속적인 동작을 원한다면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daemon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으로 등록합니다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2489489"/>
            <a:ext cx="3696021" cy="25757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516" y="2420887"/>
            <a:ext cx="3246402" cy="3055885"/>
          </a:xfrm>
          <a:prstGeom prst="rect">
            <a:avLst/>
          </a:prstGeom>
        </p:spPr>
      </p:pic>
      <p:sp>
        <p:nvSpPr>
          <p:cNvPr id="12" name="오른쪽 화살표 11"/>
          <p:cNvSpPr/>
          <p:nvPr/>
        </p:nvSpPr>
        <p:spPr>
          <a:xfrm>
            <a:off x="4002090" y="3640902"/>
            <a:ext cx="504056" cy="30792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68" y="2108441"/>
            <a:ext cx="3162574" cy="31244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27" y="5229200"/>
            <a:ext cx="2209992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5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7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. </a:t>
            </a:r>
            <a:r>
              <a:rPr lang="en-US" altLang="ko-KR" sz="2400" b="1" dirty="0" err="1">
                <a:latin typeface="나눔스퀘어라운드 ExtraBold" pitchFamily="50" charset="-127"/>
                <a:ea typeface="나눔스퀘어라운드 ExtraBold" pitchFamily="50" charset="-127"/>
              </a:rPr>
              <a:t>cron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과 </a:t>
            </a:r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daemon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개념잡기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3" y="980728"/>
            <a:ext cx="7315834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2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  <a:endParaRPr lang="ko-KR" altLang="en-US" sz="24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52" y="908720"/>
            <a:ext cx="58670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공공데이터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포털은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공공기관이 생성 또는 취득하여 관리하고 있는 공공데이터를 한 곳에서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제공하는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통합 창구입니다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 </a:t>
            </a:r>
            <a:r>
              <a:rPr lang="ko-KR" altLang="en-US" sz="1400" dirty="0" err="1">
                <a:latin typeface="나눔스퀘어" pitchFamily="50" charset="-127"/>
                <a:ea typeface="나눔스퀘어" pitchFamily="50" charset="-127"/>
              </a:rPr>
              <a:t>포털에서는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 국민이 쉽고 편리하게 공공데이터를 이용할 수 있도록 파일데이터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,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오픈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API,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시각화 등 다양한 방식으로 제공하고 있으며 누구라도 쉽고 편리한 검색을 통해 원하는 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공공데이터를 </a:t>
            </a:r>
            <a:r>
              <a:rPr lang="ko-KR" altLang="en-US" sz="1400" dirty="0">
                <a:latin typeface="나눔스퀘어" pitchFamily="50" charset="-127"/>
                <a:ea typeface="나눔스퀘어" pitchFamily="50" charset="-127"/>
              </a:rPr>
              <a:t>빠르고 정확하게 찾을 수 있습니다</a:t>
            </a:r>
            <a:r>
              <a:rPr lang="en-US" altLang="ko-KR" sz="1400" dirty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22" y="2197642"/>
            <a:ext cx="8549567" cy="35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3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8-1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공공데이터 신청하기</a:t>
            </a:r>
            <a:endParaRPr lang="ko-KR" altLang="en-US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55" y="1340768"/>
            <a:ext cx="5799323" cy="333022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55" y="4869160"/>
            <a:ext cx="2347164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9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80728"/>
            <a:ext cx="4701948" cy="34826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4581128"/>
            <a:ext cx="5136325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50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6" y="5266382"/>
            <a:ext cx="5090601" cy="154699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08720"/>
            <a:ext cx="5090601" cy="23547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45" y="3335854"/>
            <a:ext cx="5105843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3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80728"/>
            <a:ext cx="5136325" cy="169178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7" y="3142388"/>
            <a:ext cx="5090601" cy="27281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8" y="2780928"/>
            <a:ext cx="2598645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7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08" y="908720"/>
            <a:ext cx="7285352" cy="316257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4230519"/>
            <a:ext cx="7270110" cy="59441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08" y="4911341"/>
            <a:ext cx="4938188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0" y="979219"/>
            <a:ext cx="4740051" cy="49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1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8-2 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공공데이터 분석하기</a:t>
            </a:r>
            <a:endParaRPr lang="ko-KR" altLang="en-US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780928"/>
            <a:ext cx="7399662" cy="310923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2060848"/>
            <a:ext cx="3779848" cy="602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152" y="1340768"/>
            <a:ext cx="586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공공데이터를 분석하기 위해서는 교재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212p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에 있는 개발가이드를 참고하여야 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79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스퀘어라운드 ExtraBold" pitchFamily="50" charset="-127"/>
                <a:ea typeface="나눔스퀘어라운드 ExtraBold" pitchFamily="50" charset="-127"/>
              </a:rPr>
              <a:t>8. </a:t>
            </a:r>
            <a:r>
              <a:rPr lang="ko-KR" altLang="en-US" sz="2400" b="1" dirty="0">
                <a:latin typeface="나눔스퀘어라운드 ExtraBold" pitchFamily="50" charset="-127"/>
                <a:ea typeface="나눔스퀘어라운드 ExtraBold" pitchFamily="50" charset="-127"/>
              </a:rPr>
              <a:t>공공데이터 활용하기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52" y="908720"/>
            <a:ext cx="659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스퀘어라운드 Bold" pitchFamily="50" charset="-127"/>
                <a:ea typeface="나눔스퀘어라운드 Bold" pitchFamily="50" charset="-127"/>
              </a:rPr>
              <a:t>8-3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파이썬을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활용하여 </a:t>
            </a:r>
            <a:r>
              <a:rPr lang="ko-KR" altLang="en-US" dirty="0" err="1" smtClean="0">
                <a:latin typeface="나눔스퀘어라운드 Bold" pitchFamily="50" charset="-127"/>
                <a:ea typeface="나눔스퀘어라운드 Bold" pitchFamily="50" charset="-127"/>
              </a:rPr>
              <a:t>온습도</a:t>
            </a:r>
            <a:r>
              <a:rPr lang="ko-KR" altLang="en-US" dirty="0" smtClean="0">
                <a:latin typeface="나눔스퀘어라운드 Bold" pitchFamily="50" charset="-127"/>
                <a:ea typeface="나눔스퀘어라운드 Bold" pitchFamily="50" charset="-127"/>
              </a:rPr>
              <a:t> 확인하기</a:t>
            </a:r>
            <a:endParaRPr lang="ko-KR" altLang="en-US" dirty="0">
              <a:latin typeface="나눔스퀘어라운드 Bold" pitchFamily="50" charset="-127"/>
              <a:ea typeface="나눔스퀘어라운드 Bold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152" y="1916832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공공데이터에서 제공해주는 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Python</a:t>
            </a: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용 샘플 코드를 참고합니다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7" y="2341578"/>
            <a:ext cx="5029636" cy="28958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7122" y="5425479"/>
            <a:ext cx="5867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ko-KR" altLang="en-US" sz="1400" dirty="0" smtClean="0">
                <a:latin typeface="나눔스퀘어" pitchFamily="50" charset="-127"/>
                <a:ea typeface="나눔스퀘어" pitchFamily="50" charset="-127"/>
              </a:rPr>
              <a:t>서비스키 값은 다음과 같이 복사하여 첨부하면 됩니다</a:t>
            </a:r>
            <a:r>
              <a:rPr lang="en-US" altLang="ko-KR" sz="1400" dirty="0" smtClean="0">
                <a:latin typeface="나눔스퀘어" pitchFamily="50" charset="-127"/>
                <a:ea typeface="나눔스퀘어" pitchFamily="50" charset="-127"/>
              </a:rPr>
              <a:t>.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4" y="5672607"/>
            <a:ext cx="5608806" cy="81541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85004" y="1317035"/>
            <a:ext cx="85354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나눔스퀘어" pitchFamily="50" charset="-127"/>
                <a:ea typeface="나눔스퀘어" pitchFamily="50" charset="-127"/>
                <a:hlinkClick r:id="rId4"/>
              </a:rPr>
              <a:t>https://github.com/codingspecialist/RaspberryPi4-Book-Example/blob/master/ch06/weather/weather_test.py</a:t>
            </a:r>
            <a:endParaRPr lang="ko-KR" altLang="en-US" sz="1400" dirty="0">
              <a:latin typeface="나눔스퀘어" pitchFamily="50" charset="-127"/>
              <a:ea typeface="나눔스퀘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51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818</Words>
  <Application>Microsoft Office PowerPoint</Application>
  <PresentationFormat>화면 슬라이드 쇼(4:3)</PresentationFormat>
  <Paragraphs>104</Paragraphs>
  <Slides>29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398</cp:revision>
  <dcterms:created xsi:type="dcterms:W3CDTF">2017-08-23T11:56:55Z</dcterms:created>
  <dcterms:modified xsi:type="dcterms:W3CDTF">2020-01-17T05:37:12Z</dcterms:modified>
</cp:coreProperties>
</file>